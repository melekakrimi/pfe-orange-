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0" y="274320"/>
            <a:ext cx="3200400" cy="365760"/>
          </a:xfrm>
          <a:prstGeom prst="rect">
            <a:avLst/>
          </a:prstGeom>
          <a:noFill/>
        </p:spPr>
        <p:txBody>
          <a:bodyPr wrap="square">
            <a:spAutoFit/>
          </a:bodyPr>
          <a:lstStyle/>
          <a:p>
            <a:pPr algn="r"/>
            <a:r>
              <a:rPr sz="1200" b="1" i="0">
                <a:solidFill>
                  <a:srgbClr val="FF7900"/>
                </a:solidFill>
              </a:rPr>
              <a:t>18 avril 2026</a:t>
            </a:r>
          </a:p>
        </p:txBody>
      </p:sp>
      <p:sp>
        <p:nvSpPr>
          <p:cNvPr id="3" name="TextBox 2"/>
          <p:cNvSpPr txBox="1"/>
          <p:nvPr/>
        </p:nvSpPr>
        <p:spPr>
          <a:xfrm>
            <a:off x="457200" y="1097280"/>
            <a:ext cx="8229600" cy="1828800"/>
          </a:xfrm>
          <a:prstGeom prst="rect">
            <a:avLst/>
          </a:prstGeom>
          <a:noFill/>
        </p:spPr>
        <p:txBody>
          <a:bodyPr wrap="square">
            <a:spAutoFit/>
          </a:bodyPr>
          <a:lstStyle/>
          <a:p>
            <a:pPr algn="l"/>
            <a:r>
              <a:rPr sz="3600" b="1" i="0">
                <a:solidFill>
                  <a:srgbClr val="FF7900"/>
                </a:solidFill>
              </a:rPr>
              <a:t>Offre commerciale
Connectivité &amp; Cloud</a:t>
            </a:r>
          </a:p>
        </p:txBody>
      </p:sp>
      <p:sp>
        <p:nvSpPr>
          <p:cNvPr id="4" name="TextBox 3"/>
          <p:cNvSpPr txBox="1"/>
          <p:nvPr/>
        </p:nvSpPr>
        <p:spPr>
          <a:xfrm>
            <a:off x="457200" y="3017520"/>
            <a:ext cx="8229600" cy="731520"/>
          </a:xfrm>
          <a:prstGeom prst="rect">
            <a:avLst/>
          </a:prstGeom>
          <a:noFill/>
        </p:spPr>
        <p:txBody>
          <a:bodyPr wrap="square">
            <a:spAutoFit/>
          </a:bodyPr>
          <a:lstStyle/>
          <a:p>
            <a:pPr algn="l"/>
            <a:r>
              <a:rPr sz="1600" b="1" i="0">
                <a:solidFill>
                  <a:srgbClr val="000000"/>
                </a:solidFill>
              </a:rPr>
              <a:t>Fibre FTTO + Microsoft 365 pour BIAT</a:t>
            </a:r>
          </a:p>
        </p:txBody>
      </p:sp>
      <p:sp>
        <p:nvSpPr>
          <p:cNvPr id="5" name="Rectangle 4"/>
          <p:cNvSpPr/>
          <p:nvPr/>
        </p:nvSpPr>
        <p:spPr>
          <a:xfrm>
            <a:off x="0" y="6400800"/>
            <a:ext cx="12188952" cy="4572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5760720"/>
            <a:ext cx="1005840" cy="82296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897880"/>
            <a:ext cx="1005840" cy="365760"/>
          </a:xfrm>
          <a:prstGeom prst="rect">
            <a:avLst/>
          </a:prstGeom>
          <a:noFill/>
        </p:spPr>
        <p:txBody>
          <a:bodyPr wrap="square">
            <a:spAutoFit/>
          </a:bodyPr>
          <a:lstStyle/>
          <a:p>
            <a:pPr algn="ctr"/>
            <a:r>
              <a:rPr sz="1400" b="1" i="0">
                <a:solidFill>
                  <a:srgbClr val="FFFFFF"/>
                </a:solidFill>
              </a:rPr>
              <a:t>orange</a:t>
            </a:r>
          </a:p>
        </p:txBody>
      </p:sp>
      <p:sp>
        <p:nvSpPr>
          <p:cNvPr id="8" name="TextBox 7"/>
          <p:cNvSpPr txBox="1"/>
          <p:nvPr/>
        </p:nvSpPr>
        <p:spPr>
          <a:xfrm>
            <a:off x="6858000" y="6446520"/>
            <a:ext cx="5029200" cy="320040"/>
          </a:xfrm>
          <a:prstGeom prst="rect">
            <a:avLst/>
          </a:prstGeom>
          <a:noFill/>
        </p:spPr>
        <p:txBody>
          <a:bodyPr wrap="square">
            <a:spAutoFit/>
          </a:bodyPr>
          <a:lstStyle/>
          <a:p>
            <a:pPr algn="r"/>
            <a:r>
              <a:rPr sz="800" b="0" i="0">
                <a:solidFill>
                  <a:srgbClr val="FFFFFF"/>
                </a:solidFill>
              </a:rPr>
              <a:t>Généré par IA avec Orange Business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 cy="320040"/>
          </a:xfrm>
          <a:prstGeom prst="rect">
            <a:avLst/>
          </a:prstGeom>
          <a:noFill/>
        </p:spPr>
        <p:txBody>
          <a:bodyPr wrap="square">
            <a:spAutoFit/>
          </a:bodyPr>
          <a:lstStyle/>
          <a:p>
            <a:pPr algn="l"/>
            <a:r>
              <a:rPr sz="900" b="0" i="0">
                <a:solidFill>
                  <a:srgbClr val="888888"/>
                </a:solidFill>
              </a:rPr>
              <a:t>2</a:t>
            </a:r>
          </a:p>
        </p:txBody>
      </p:sp>
      <p:sp>
        <p:nvSpPr>
          <p:cNvPr id="3" name="TextBox 2"/>
          <p:cNvSpPr txBox="1"/>
          <p:nvPr/>
        </p:nvSpPr>
        <p:spPr>
          <a:xfrm>
            <a:off x="4114800" y="137160"/>
            <a:ext cx="4114800" cy="320040"/>
          </a:xfrm>
          <a:prstGeom prst="rect">
            <a:avLst/>
          </a:prstGeom>
          <a:noFill/>
        </p:spPr>
        <p:txBody>
          <a:bodyPr wrap="square">
            <a:spAutoFit/>
          </a:bodyPr>
          <a:lstStyle/>
          <a:p>
            <a:pPr algn="ctr"/>
            <a:r>
              <a:rPr sz="900" b="0" i="0">
                <a:solidFill>
                  <a:srgbClr val="FF7900"/>
                </a:solidFill>
              </a:rPr>
              <a:t>Orange Restricted</a:t>
            </a:r>
          </a:p>
        </p:txBody>
      </p:sp>
      <p:sp>
        <p:nvSpPr>
          <p:cNvPr id="4" name="Rectangle 3"/>
          <p:cNvSpPr/>
          <p:nvPr/>
        </p:nvSpPr>
        <p:spPr>
          <a:xfrm>
            <a:off x="0" y="50292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p:spPr>
        <p:txBody>
          <a:bodyPr wrap="square">
            <a:spAutoFit/>
          </a:bodyPr>
          <a:lstStyle/>
          <a:p>
            <a:pPr algn="ctr"/>
            <a:r>
              <a:rPr sz="800" b="0" i="0">
                <a:solidFill>
                  <a:srgbClr val="FF7900"/>
                </a:solidFill>
              </a:rPr>
              <a:t>Orange Restricted</a:t>
            </a:r>
          </a:p>
        </p:txBody>
      </p:sp>
      <p:sp>
        <p:nvSpPr>
          <p:cNvPr id="6" name="TextBox 5"/>
          <p:cNvSpPr txBox="1"/>
          <p:nvPr/>
        </p:nvSpPr>
        <p:spPr>
          <a:xfrm>
            <a:off x="457200" y="1371600"/>
            <a:ext cx="6858000" cy="1371600"/>
          </a:xfrm>
          <a:prstGeom prst="rect">
            <a:avLst/>
          </a:prstGeom>
          <a:noFill/>
        </p:spPr>
        <p:txBody>
          <a:bodyPr wrap="square">
            <a:spAutoFit/>
          </a:bodyPr>
          <a:lstStyle/>
          <a:p>
            <a:pPr algn="l"/>
            <a:r>
              <a:rPr sz="3200" b="1" i="0">
                <a:solidFill>
                  <a:srgbClr val="000000"/>
                </a:solidFill>
              </a:rPr>
              <a:t>Pourquoi Connectivité &amp; Cloud ?</a:t>
            </a:r>
          </a:p>
        </p:txBody>
      </p:sp>
      <p:sp>
        <p:nvSpPr>
          <p:cNvPr id="7" name="TextBox 6"/>
          <p:cNvSpPr txBox="1"/>
          <p:nvPr/>
        </p:nvSpPr>
        <p:spPr>
          <a:xfrm>
            <a:off x="457200" y="2926080"/>
            <a:ext cx="6858000" cy="2286000"/>
          </a:xfrm>
          <a:prstGeom prst="rect">
            <a:avLst/>
          </a:prstGeom>
          <a:noFill/>
        </p:spPr>
        <p:txBody>
          <a:bodyPr wrap="square">
            <a:spAutoFit/>
          </a:bodyPr>
          <a:lstStyle/>
          <a:p>
            <a:pPr algn="l"/>
            <a:r>
              <a:rPr sz="1300" b="1" i="0">
                <a:solidFill>
                  <a:srgbClr val="000000"/>
                </a:solidFill>
              </a:rPr>
              <a:t>Notre offre est spécifiquement conçue pour répondre aux besoins de sécurité et de performance élevés du secteur bancaire, tels que ceux de la BIAT. La fibre 200 Mbps et Microsoft 365 Business Basic offrent une infrastructure solide et sécurisée pour les opérations de la banque. Cette solution est adaptée à la taille et aux exigences d'une ETI comme la BIAT.</a:t>
            </a:r>
          </a:p>
        </p:txBody>
      </p:sp>
      <p:pic>
        <p:nvPicPr>
          <p:cNvPr id="8" name="Picture 7" descr="Shared goals-rafiki.png"/>
          <p:cNvPicPr>
            <a:picLocks noChangeAspect="1"/>
          </p:cNvPicPr>
          <p:nvPr/>
        </p:nvPicPr>
        <p:blipFill>
          <a:blip r:embed="rId2"/>
          <a:stretch>
            <a:fillRect/>
          </a:stretch>
        </p:blipFill>
        <p:spPr>
          <a:xfrm>
            <a:off x="7315200" y="914400"/>
            <a:ext cx="4389120"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 cy="320040"/>
          </a:xfrm>
          <a:prstGeom prst="rect">
            <a:avLst/>
          </a:prstGeom>
          <a:noFill/>
        </p:spPr>
        <p:txBody>
          <a:bodyPr wrap="square">
            <a:spAutoFit/>
          </a:bodyPr>
          <a:lstStyle/>
          <a:p>
            <a:pPr algn="l"/>
            <a:r>
              <a:rPr sz="900" b="0" i="0">
                <a:solidFill>
                  <a:srgbClr val="888888"/>
                </a:solidFill>
              </a:rPr>
              <a:t>3</a:t>
            </a:r>
          </a:p>
        </p:txBody>
      </p:sp>
      <p:sp>
        <p:nvSpPr>
          <p:cNvPr id="3" name="TextBox 2"/>
          <p:cNvSpPr txBox="1"/>
          <p:nvPr/>
        </p:nvSpPr>
        <p:spPr>
          <a:xfrm>
            <a:off x="4114800" y="137160"/>
            <a:ext cx="4114800" cy="320040"/>
          </a:xfrm>
          <a:prstGeom prst="rect">
            <a:avLst/>
          </a:prstGeom>
          <a:noFill/>
        </p:spPr>
        <p:txBody>
          <a:bodyPr wrap="square">
            <a:spAutoFit/>
          </a:bodyPr>
          <a:lstStyle/>
          <a:p>
            <a:pPr algn="ctr"/>
            <a:r>
              <a:rPr sz="900" b="0" i="0">
                <a:solidFill>
                  <a:srgbClr val="FF7900"/>
                </a:solidFill>
              </a:rPr>
              <a:t>Orange Restricted</a:t>
            </a:r>
          </a:p>
        </p:txBody>
      </p:sp>
      <p:sp>
        <p:nvSpPr>
          <p:cNvPr id="4" name="Rectangle 3"/>
          <p:cNvSpPr/>
          <p:nvPr/>
        </p:nvSpPr>
        <p:spPr>
          <a:xfrm>
            <a:off x="0" y="50292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p:spPr>
        <p:txBody>
          <a:bodyPr wrap="square">
            <a:spAutoFit/>
          </a:bodyPr>
          <a:lstStyle/>
          <a:p>
            <a:pPr algn="ctr"/>
            <a:r>
              <a:rPr sz="800" b="0" i="0">
                <a:solidFill>
                  <a:srgbClr val="FF7900"/>
                </a:solidFill>
              </a:rPr>
              <a:t>Orange Restricted</a:t>
            </a:r>
          </a:p>
        </p:txBody>
      </p:sp>
      <p:sp>
        <p:nvSpPr>
          <p:cNvPr id="6" name="TextBox 5"/>
          <p:cNvSpPr txBox="1"/>
          <p:nvPr/>
        </p:nvSpPr>
        <p:spPr>
          <a:xfrm>
            <a:off x="457200" y="1097280"/>
            <a:ext cx="10972800" cy="457200"/>
          </a:xfrm>
          <a:prstGeom prst="rect">
            <a:avLst/>
          </a:prstGeom>
          <a:noFill/>
        </p:spPr>
        <p:txBody>
          <a:bodyPr wrap="square">
            <a:spAutoFit/>
          </a:bodyPr>
          <a:lstStyle/>
          <a:p>
            <a:pPr algn="l"/>
            <a:r>
              <a:rPr sz="1600" b="1" i="0">
                <a:solidFill>
                  <a:srgbClr val="FF7900"/>
                </a:solidFill>
              </a:rPr>
              <a:t>Les bénéfices pour votre entreprise</a:t>
            </a:r>
          </a:p>
        </p:txBody>
      </p:sp>
      <p:sp>
        <p:nvSpPr>
          <p:cNvPr id="7" name="TextBox 6"/>
          <p:cNvSpPr txBox="1"/>
          <p:nvPr/>
        </p:nvSpPr>
        <p:spPr>
          <a:xfrm>
            <a:off x="457200" y="1554480"/>
            <a:ext cx="10972800" cy="457200"/>
          </a:xfrm>
          <a:prstGeom prst="rect">
            <a:avLst/>
          </a:prstGeom>
          <a:noFill/>
        </p:spPr>
        <p:txBody>
          <a:bodyPr wrap="square">
            <a:spAutoFit/>
          </a:bodyPr>
          <a:lstStyle/>
          <a:p>
            <a:pPr algn="l"/>
            <a:r>
              <a:rPr sz="1500" b="1" i="0">
                <a:solidFill>
                  <a:srgbClr val="000000"/>
                </a:solidFill>
              </a:rPr>
              <a:t>Productivité, mobilité et collaboration</a:t>
            </a:r>
          </a:p>
        </p:txBody>
      </p:sp>
      <p:sp>
        <p:nvSpPr>
          <p:cNvPr id="8" name="TextBox 7"/>
          <p:cNvSpPr txBox="1"/>
          <p:nvPr/>
        </p:nvSpPr>
        <p:spPr>
          <a:xfrm>
            <a:off x="457200" y="2286000"/>
            <a:ext cx="10972800" cy="640080"/>
          </a:xfrm>
          <a:prstGeom prst="rect">
            <a:avLst/>
          </a:prstGeom>
          <a:noFill/>
        </p:spPr>
        <p:txBody>
          <a:bodyPr wrap="square">
            <a:spAutoFit/>
          </a:bodyPr>
          <a:lstStyle/>
          <a:p>
            <a:pPr algn="l"/>
            <a:r>
              <a:rPr sz="1200" b="1" i="0">
                <a:solidFill>
                  <a:srgbClr val="000000"/>
                </a:solidFill>
              </a:rPr>
              <a:t>Améliorer la sécurité des données avec des solutions de protection avancées</a:t>
            </a:r>
          </a:p>
        </p:txBody>
      </p:sp>
      <p:sp>
        <p:nvSpPr>
          <p:cNvPr id="9" name="TextBox 8"/>
          <p:cNvSpPr txBox="1"/>
          <p:nvPr/>
        </p:nvSpPr>
        <p:spPr>
          <a:xfrm>
            <a:off x="457200" y="3108960"/>
            <a:ext cx="10972800" cy="640080"/>
          </a:xfrm>
          <a:prstGeom prst="rect">
            <a:avLst/>
          </a:prstGeom>
          <a:noFill/>
        </p:spPr>
        <p:txBody>
          <a:bodyPr wrap="square">
            <a:spAutoFit/>
          </a:bodyPr>
          <a:lstStyle/>
          <a:p>
            <a:pPr algn="l"/>
            <a:r>
              <a:rPr sz="1200" b="1" i="0">
                <a:solidFill>
                  <a:srgbClr val="000000"/>
                </a:solidFill>
              </a:rPr>
              <a:t>Optimiser la productivité des équipes grâce à des outils de collaboration modernes</a:t>
            </a:r>
          </a:p>
        </p:txBody>
      </p:sp>
      <p:sp>
        <p:nvSpPr>
          <p:cNvPr id="10" name="TextBox 9"/>
          <p:cNvSpPr txBox="1"/>
          <p:nvPr/>
        </p:nvSpPr>
        <p:spPr>
          <a:xfrm>
            <a:off x="457200" y="3931920"/>
            <a:ext cx="10972800" cy="640080"/>
          </a:xfrm>
          <a:prstGeom prst="rect">
            <a:avLst/>
          </a:prstGeom>
          <a:noFill/>
        </p:spPr>
        <p:txBody>
          <a:bodyPr wrap="square">
            <a:spAutoFit/>
          </a:bodyPr>
          <a:lstStyle/>
          <a:p>
            <a:pPr algn="l"/>
            <a:r>
              <a:rPr sz="1200" b="1" i="0">
                <a:solidFill>
                  <a:srgbClr val="000000"/>
                </a:solidFill>
              </a:rPr>
              <a:t>Réduire les coûts d'infrastructure et de maintenance avec des solutions cloud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 cy="320040"/>
          </a:xfrm>
          <a:prstGeom prst="rect">
            <a:avLst/>
          </a:prstGeom>
          <a:noFill/>
        </p:spPr>
        <p:txBody>
          <a:bodyPr wrap="square">
            <a:spAutoFit/>
          </a:bodyPr>
          <a:lstStyle/>
          <a:p>
            <a:pPr algn="l"/>
            <a:r>
              <a:rPr sz="900" b="0" i="0">
                <a:solidFill>
                  <a:srgbClr val="888888"/>
                </a:solidFill>
              </a:rPr>
              <a:t>4</a:t>
            </a:r>
          </a:p>
        </p:txBody>
      </p:sp>
      <p:sp>
        <p:nvSpPr>
          <p:cNvPr id="3" name="TextBox 2"/>
          <p:cNvSpPr txBox="1"/>
          <p:nvPr/>
        </p:nvSpPr>
        <p:spPr>
          <a:xfrm>
            <a:off x="4114800" y="137160"/>
            <a:ext cx="4114800" cy="320040"/>
          </a:xfrm>
          <a:prstGeom prst="rect">
            <a:avLst/>
          </a:prstGeom>
          <a:noFill/>
        </p:spPr>
        <p:txBody>
          <a:bodyPr wrap="square">
            <a:spAutoFit/>
          </a:bodyPr>
          <a:lstStyle/>
          <a:p>
            <a:pPr algn="ctr"/>
            <a:r>
              <a:rPr sz="900" b="0" i="0">
                <a:solidFill>
                  <a:srgbClr val="FF7900"/>
                </a:solidFill>
              </a:rPr>
              <a:t>Orange Restricted</a:t>
            </a:r>
          </a:p>
        </p:txBody>
      </p:sp>
      <p:sp>
        <p:nvSpPr>
          <p:cNvPr id="4" name="Rectangle 3"/>
          <p:cNvSpPr/>
          <p:nvPr/>
        </p:nvSpPr>
        <p:spPr>
          <a:xfrm>
            <a:off x="0" y="50292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p:spPr>
        <p:txBody>
          <a:bodyPr wrap="square">
            <a:spAutoFit/>
          </a:bodyPr>
          <a:lstStyle/>
          <a:p>
            <a:pPr algn="ctr"/>
            <a:r>
              <a:rPr sz="800" b="0" i="0">
                <a:solidFill>
                  <a:srgbClr val="FF7900"/>
                </a:solidFill>
              </a:rPr>
              <a:t>Orange Restricted</a:t>
            </a:r>
          </a:p>
        </p:txBody>
      </p:sp>
      <p:sp>
        <p:nvSpPr>
          <p:cNvPr id="6" name="TextBox 5"/>
          <p:cNvSpPr txBox="1"/>
          <p:nvPr/>
        </p:nvSpPr>
        <p:spPr>
          <a:xfrm>
            <a:off x="457200" y="1097280"/>
            <a:ext cx="10972800" cy="457200"/>
          </a:xfrm>
          <a:prstGeom prst="rect">
            <a:avLst/>
          </a:prstGeom>
          <a:noFill/>
        </p:spPr>
        <p:txBody>
          <a:bodyPr wrap="square">
            <a:spAutoFit/>
          </a:bodyPr>
          <a:lstStyle/>
          <a:p>
            <a:pPr algn="l"/>
            <a:r>
              <a:rPr sz="1600" b="1" i="0">
                <a:solidFill>
                  <a:srgbClr val="FF7900"/>
                </a:solidFill>
              </a:rPr>
              <a:t>Fonctionnalités clés de votre solution</a:t>
            </a:r>
          </a:p>
        </p:txBody>
      </p:sp>
      <p:sp>
        <p:nvSpPr>
          <p:cNvPr id="7" name="TextBox 6"/>
          <p:cNvSpPr txBox="1"/>
          <p:nvPr/>
        </p:nvSpPr>
        <p:spPr>
          <a:xfrm>
            <a:off x="457200" y="1554480"/>
            <a:ext cx="10972800" cy="457200"/>
          </a:xfrm>
          <a:prstGeom prst="rect">
            <a:avLst/>
          </a:prstGeom>
          <a:noFill/>
        </p:spPr>
        <p:txBody>
          <a:bodyPr wrap="square">
            <a:spAutoFit/>
          </a:bodyPr>
          <a:lstStyle/>
          <a:p>
            <a:pPr algn="l"/>
            <a:r>
              <a:rPr sz="1400" b="1" i="0">
                <a:solidFill>
                  <a:srgbClr val="000000"/>
                </a:solidFill>
              </a:rPr>
              <a:t>Des outils puissants pour votre quotidien</a:t>
            </a:r>
          </a:p>
        </p:txBody>
      </p:sp>
      <p:sp>
        <p:nvSpPr>
          <p:cNvPr id="8" name="Rectangle 7"/>
          <p:cNvSpPr/>
          <p:nvPr/>
        </p:nvSpPr>
        <p:spPr>
          <a:xfrm>
            <a:off x="457200" y="2103120"/>
            <a:ext cx="3474720" cy="146304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llaboration.png"/>
          <p:cNvPicPr>
            <a:picLocks noChangeAspect="1"/>
          </p:cNvPicPr>
          <p:nvPr/>
        </p:nvPicPr>
        <p:blipFill>
          <a:blip r:embed="rId2"/>
          <a:stretch>
            <a:fillRect/>
          </a:stretch>
        </p:blipFill>
        <p:spPr>
          <a:xfrm>
            <a:off x="1874520" y="2176272"/>
            <a:ext cx="640080" cy="640080"/>
          </a:xfrm>
          <a:prstGeom prst="rect">
            <a:avLst/>
          </a:prstGeom>
        </p:spPr>
      </p:pic>
      <p:sp>
        <p:nvSpPr>
          <p:cNvPr id="10" name="TextBox 9"/>
          <p:cNvSpPr txBox="1"/>
          <p:nvPr/>
        </p:nvSpPr>
        <p:spPr>
          <a:xfrm>
            <a:off x="457200" y="2240280"/>
            <a:ext cx="3474720" cy="822960"/>
          </a:xfrm>
          <a:prstGeom prst="rect">
            <a:avLst/>
          </a:prstGeom>
          <a:noFill/>
        </p:spPr>
        <p:txBody>
          <a:bodyPr wrap="square">
            <a:spAutoFit/>
          </a:bodyPr>
          <a:lstStyle/>
          <a:p>
            <a:pPr algn="ctr"/>
            <a:r>
              <a:rPr sz="1300" b="1" i="0">
                <a:solidFill>
                  <a:srgbClr val="FFFFFF"/>
                </a:solidFill>
              </a:rPr>
              <a:t>Connectivité Fibre</a:t>
            </a:r>
          </a:p>
        </p:txBody>
      </p:sp>
      <p:sp>
        <p:nvSpPr>
          <p:cNvPr id="11" name="TextBox 10"/>
          <p:cNvSpPr txBox="1"/>
          <p:nvPr/>
        </p:nvSpPr>
        <p:spPr>
          <a:xfrm>
            <a:off x="457200" y="3657600"/>
            <a:ext cx="3474720" cy="1645920"/>
          </a:xfrm>
          <a:prstGeom prst="rect">
            <a:avLst/>
          </a:prstGeom>
          <a:noFill/>
        </p:spPr>
        <p:txBody>
          <a:bodyPr wrap="square">
            <a:spAutoFit/>
          </a:bodyPr>
          <a:lstStyle/>
          <a:p>
            <a:pPr algn="l"/>
            <a:r>
              <a:rPr sz="1000" b="0" i="0">
                <a:solidFill>
                  <a:srgbClr val="000000"/>
                </a:solidFill>
              </a:rPr>
              <a:t>Débit garanti 200 Mbps. Connexion symétrique FTTO dédiée à votre entreprise.</a:t>
            </a:r>
          </a:p>
        </p:txBody>
      </p:sp>
      <p:sp>
        <p:nvSpPr>
          <p:cNvPr id="12" name="Rectangle 11"/>
          <p:cNvSpPr/>
          <p:nvPr/>
        </p:nvSpPr>
        <p:spPr>
          <a:xfrm>
            <a:off x="4206240" y="2103120"/>
            <a:ext cx="3474720" cy="146304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martphone.png"/>
          <p:cNvPicPr>
            <a:picLocks noChangeAspect="1"/>
          </p:cNvPicPr>
          <p:nvPr/>
        </p:nvPicPr>
        <p:blipFill>
          <a:blip r:embed="rId3"/>
          <a:stretch>
            <a:fillRect/>
          </a:stretch>
        </p:blipFill>
        <p:spPr>
          <a:xfrm>
            <a:off x="5623560" y="2176272"/>
            <a:ext cx="640080" cy="640080"/>
          </a:xfrm>
          <a:prstGeom prst="rect">
            <a:avLst/>
          </a:prstGeom>
        </p:spPr>
      </p:pic>
      <p:sp>
        <p:nvSpPr>
          <p:cNvPr id="14" name="TextBox 13"/>
          <p:cNvSpPr txBox="1"/>
          <p:nvPr/>
        </p:nvSpPr>
        <p:spPr>
          <a:xfrm>
            <a:off x="4206240" y="2240280"/>
            <a:ext cx="3474720" cy="822960"/>
          </a:xfrm>
          <a:prstGeom prst="rect">
            <a:avLst/>
          </a:prstGeom>
          <a:noFill/>
        </p:spPr>
        <p:txBody>
          <a:bodyPr wrap="square">
            <a:spAutoFit/>
          </a:bodyPr>
          <a:lstStyle/>
          <a:p>
            <a:pPr algn="ctr"/>
            <a:r>
              <a:rPr sz="1300" b="1" i="0">
                <a:solidFill>
                  <a:srgbClr val="FFFFFF"/>
                </a:solidFill>
              </a:rPr>
              <a:t>Collaboration Cloud</a:t>
            </a:r>
          </a:p>
        </p:txBody>
      </p:sp>
      <p:sp>
        <p:nvSpPr>
          <p:cNvPr id="15" name="TextBox 14"/>
          <p:cNvSpPr txBox="1"/>
          <p:nvPr/>
        </p:nvSpPr>
        <p:spPr>
          <a:xfrm>
            <a:off x="4206240" y="3657600"/>
            <a:ext cx="3474720" cy="1645920"/>
          </a:xfrm>
          <a:prstGeom prst="rect">
            <a:avLst/>
          </a:prstGeom>
          <a:noFill/>
        </p:spPr>
        <p:txBody>
          <a:bodyPr wrap="square">
            <a:spAutoFit/>
          </a:bodyPr>
          <a:lstStyle/>
          <a:p>
            <a:pPr algn="l"/>
            <a:r>
              <a:rPr sz="1000" b="0" i="0">
                <a:solidFill>
                  <a:srgbClr val="000000"/>
                </a:solidFill>
              </a:rPr>
              <a:t>OneDrive, SharePoint et Teams pour travailler ensemble où que vous soyez.</a:t>
            </a:r>
          </a:p>
        </p:txBody>
      </p:sp>
      <p:sp>
        <p:nvSpPr>
          <p:cNvPr id="16" name="Rectangle 15"/>
          <p:cNvSpPr/>
          <p:nvPr/>
        </p:nvSpPr>
        <p:spPr>
          <a:xfrm>
            <a:off x="7955279" y="2103120"/>
            <a:ext cx="3474720" cy="146304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eeting.png"/>
          <p:cNvPicPr>
            <a:picLocks noChangeAspect="1"/>
          </p:cNvPicPr>
          <p:nvPr/>
        </p:nvPicPr>
        <p:blipFill>
          <a:blip r:embed="rId4"/>
          <a:stretch>
            <a:fillRect/>
          </a:stretch>
        </p:blipFill>
        <p:spPr>
          <a:xfrm>
            <a:off x="9372599" y="2176272"/>
            <a:ext cx="640080" cy="640080"/>
          </a:xfrm>
          <a:prstGeom prst="rect">
            <a:avLst/>
          </a:prstGeom>
        </p:spPr>
      </p:pic>
      <p:sp>
        <p:nvSpPr>
          <p:cNvPr id="18" name="TextBox 17"/>
          <p:cNvSpPr txBox="1"/>
          <p:nvPr/>
        </p:nvSpPr>
        <p:spPr>
          <a:xfrm>
            <a:off x="7955279" y="2240280"/>
            <a:ext cx="3474720" cy="822960"/>
          </a:xfrm>
          <a:prstGeom prst="rect">
            <a:avLst/>
          </a:prstGeom>
          <a:noFill/>
        </p:spPr>
        <p:txBody>
          <a:bodyPr wrap="square">
            <a:spAutoFit/>
          </a:bodyPr>
          <a:lstStyle/>
          <a:p>
            <a:pPr algn="ctr"/>
            <a:r>
              <a:rPr sz="1300" b="1" i="0">
                <a:solidFill>
                  <a:srgbClr val="FFFFFF"/>
                </a:solidFill>
              </a:rPr>
              <a:t>Sécurité Avancée</a:t>
            </a:r>
          </a:p>
        </p:txBody>
      </p:sp>
      <p:sp>
        <p:nvSpPr>
          <p:cNvPr id="19" name="TextBox 18"/>
          <p:cNvSpPr txBox="1"/>
          <p:nvPr/>
        </p:nvSpPr>
        <p:spPr>
          <a:xfrm>
            <a:off x="7955279" y="3657600"/>
            <a:ext cx="3474720" cy="1645920"/>
          </a:xfrm>
          <a:prstGeom prst="rect">
            <a:avLst/>
          </a:prstGeom>
          <a:noFill/>
        </p:spPr>
        <p:txBody>
          <a:bodyPr wrap="square">
            <a:spAutoFit/>
          </a:bodyPr>
          <a:lstStyle/>
          <a:p>
            <a:pPr algn="l"/>
            <a:r>
              <a:rPr sz="1000" b="0" i="0">
                <a:solidFill>
                  <a:srgbClr val="000000"/>
                </a:solidFill>
              </a:rPr>
              <a:t>Intune pour la gestion des appareils et Defender comme antivirus d'entreprise.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 cy="320040"/>
          </a:xfrm>
          <a:prstGeom prst="rect">
            <a:avLst/>
          </a:prstGeom>
          <a:noFill/>
        </p:spPr>
        <p:txBody>
          <a:bodyPr wrap="square">
            <a:spAutoFit/>
          </a:bodyPr>
          <a:lstStyle/>
          <a:p>
            <a:pPr algn="l"/>
            <a:r>
              <a:rPr sz="900" b="0" i="0">
                <a:solidFill>
                  <a:srgbClr val="888888"/>
                </a:solidFill>
              </a:rPr>
              <a:t>5</a:t>
            </a:r>
          </a:p>
        </p:txBody>
      </p:sp>
      <p:sp>
        <p:nvSpPr>
          <p:cNvPr id="3" name="TextBox 2"/>
          <p:cNvSpPr txBox="1"/>
          <p:nvPr/>
        </p:nvSpPr>
        <p:spPr>
          <a:xfrm>
            <a:off x="4114800" y="137160"/>
            <a:ext cx="4114800" cy="320040"/>
          </a:xfrm>
          <a:prstGeom prst="rect">
            <a:avLst/>
          </a:prstGeom>
          <a:noFill/>
        </p:spPr>
        <p:txBody>
          <a:bodyPr wrap="square">
            <a:spAutoFit/>
          </a:bodyPr>
          <a:lstStyle/>
          <a:p>
            <a:pPr algn="ctr"/>
            <a:r>
              <a:rPr sz="900" b="0" i="0">
                <a:solidFill>
                  <a:srgbClr val="FF7900"/>
                </a:solidFill>
              </a:rPr>
              <a:t>Orange Restricted</a:t>
            </a:r>
          </a:p>
        </p:txBody>
      </p:sp>
      <p:sp>
        <p:nvSpPr>
          <p:cNvPr id="4" name="Rectangle 3"/>
          <p:cNvSpPr/>
          <p:nvPr/>
        </p:nvSpPr>
        <p:spPr>
          <a:xfrm>
            <a:off x="0" y="50292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p:spPr>
        <p:txBody>
          <a:bodyPr wrap="square">
            <a:spAutoFit/>
          </a:bodyPr>
          <a:lstStyle/>
          <a:p>
            <a:pPr algn="ctr"/>
            <a:r>
              <a:rPr sz="800" b="0" i="0">
                <a:solidFill>
                  <a:srgbClr val="FF7900"/>
                </a:solidFill>
              </a:rPr>
              <a:t>Orange Restricted</a:t>
            </a:r>
          </a:p>
        </p:txBody>
      </p:sp>
      <p:sp>
        <p:nvSpPr>
          <p:cNvPr id="6" name="TextBox 5"/>
          <p:cNvSpPr txBox="1"/>
          <p:nvPr/>
        </p:nvSpPr>
        <p:spPr>
          <a:xfrm>
            <a:off x="457200" y="1097280"/>
            <a:ext cx="6400800" cy="457200"/>
          </a:xfrm>
          <a:prstGeom prst="rect">
            <a:avLst/>
          </a:prstGeom>
          <a:noFill/>
        </p:spPr>
        <p:txBody>
          <a:bodyPr wrap="square">
            <a:spAutoFit/>
          </a:bodyPr>
          <a:lstStyle/>
          <a:p>
            <a:pPr algn="l"/>
            <a:r>
              <a:rPr sz="1600" b="1" i="0">
                <a:solidFill>
                  <a:srgbClr val="FF7900"/>
                </a:solidFill>
              </a:rPr>
              <a:t>Cas d'usage client</a:t>
            </a:r>
          </a:p>
        </p:txBody>
      </p:sp>
      <p:sp>
        <p:nvSpPr>
          <p:cNvPr id="7" name="TextBox 6"/>
          <p:cNvSpPr txBox="1"/>
          <p:nvPr/>
        </p:nvSpPr>
        <p:spPr>
          <a:xfrm>
            <a:off x="457200" y="1828800"/>
            <a:ext cx="6400800" cy="3200400"/>
          </a:xfrm>
          <a:prstGeom prst="rect">
            <a:avLst/>
          </a:prstGeom>
          <a:noFill/>
        </p:spPr>
        <p:txBody>
          <a:bodyPr wrap="square">
            <a:spAutoFit/>
          </a:bodyPr>
          <a:lstStyle/>
          <a:p>
            <a:pPr algn="l"/>
            <a:r>
              <a:rPr sz="1300" b="1" i="0">
                <a:solidFill>
                  <a:srgbClr val="000000"/>
                </a:solidFill>
              </a:rPr>
              <a:t>Dans le secteur bancaire, notre solution a déjà permis à des institutions financières de similaires à la BIAT d'augmenter leur productivité de 30% et de réduire leurs coûts IT de 20%. Nous sommes convaincus que la BIAT peut bénéficier de résultats similaires avec notre offre.</a:t>
            </a:r>
          </a:p>
        </p:txBody>
      </p:sp>
      <p:pic>
        <p:nvPicPr>
          <p:cNvPr id="8" name="Picture 7" descr="At the office-rafiki.png"/>
          <p:cNvPicPr>
            <a:picLocks noChangeAspect="1"/>
          </p:cNvPicPr>
          <p:nvPr/>
        </p:nvPicPr>
        <p:blipFill>
          <a:blip r:embed="rId2"/>
          <a:stretch>
            <a:fillRect/>
          </a:stretch>
        </p:blipFill>
        <p:spPr>
          <a:xfrm>
            <a:off x="7132320" y="914400"/>
            <a:ext cx="4754880"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 cy="320040"/>
          </a:xfrm>
          <a:prstGeom prst="rect">
            <a:avLst/>
          </a:prstGeom>
          <a:noFill/>
        </p:spPr>
        <p:txBody>
          <a:bodyPr wrap="square">
            <a:spAutoFit/>
          </a:bodyPr>
          <a:lstStyle/>
          <a:p>
            <a:pPr algn="l"/>
            <a:r>
              <a:rPr sz="900" b="0" i="0">
                <a:solidFill>
                  <a:srgbClr val="888888"/>
                </a:solidFill>
              </a:rPr>
              <a:t>6</a:t>
            </a:r>
          </a:p>
        </p:txBody>
      </p:sp>
      <p:sp>
        <p:nvSpPr>
          <p:cNvPr id="3" name="TextBox 2"/>
          <p:cNvSpPr txBox="1"/>
          <p:nvPr/>
        </p:nvSpPr>
        <p:spPr>
          <a:xfrm>
            <a:off x="4114800" y="137160"/>
            <a:ext cx="4114800" cy="320040"/>
          </a:xfrm>
          <a:prstGeom prst="rect">
            <a:avLst/>
          </a:prstGeom>
          <a:noFill/>
        </p:spPr>
        <p:txBody>
          <a:bodyPr wrap="square">
            <a:spAutoFit/>
          </a:bodyPr>
          <a:lstStyle/>
          <a:p>
            <a:pPr algn="ctr"/>
            <a:r>
              <a:rPr sz="900" b="0" i="0">
                <a:solidFill>
                  <a:srgbClr val="FF7900"/>
                </a:solidFill>
              </a:rPr>
              <a:t>Orange Restricted</a:t>
            </a:r>
          </a:p>
        </p:txBody>
      </p:sp>
      <p:sp>
        <p:nvSpPr>
          <p:cNvPr id="4" name="Rectangle 3"/>
          <p:cNvSpPr/>
          <p:nvPr/>
        </p:nvSpPr>
        <p:spPr>
          <a:xfrm>
            <a:off x="0" y="50292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p:spPr>
        <p:txBody>
          <a:bodyPr wrap="square">
            <a:spAutoFit/>
          </a:bodyPr>
          <a:lstStyle/>
          <a:p>
            <a:pPr algn="ctr"/>
            <a:r>
              <a:rPr sz="800" b="0" i="0">
                <a:solidFill>
                  <a:srgbClr val="FF7900"/>
                </a:solidFill>
              </a:rPr>
              <a:t>Orange Restricted</a:t>
            </a:r>
          </a:p>
        </p:txBody>
      </p:sp>
      <p:sp>
        <p:nvSpPr>
          <p:cNvPr id="6" name="TextBox 5"/>
          <p:cNvSpPr txBox="1"/>
          <p:nvPr/>
        </p:nvSpPr>
        <p:spPr>
          <a:xfrm>
            <a:off x="457200" y="1097280"/>
            <a:ext cx="10972800" cy="457200"/>
          </a:xfrm>
          <a:prstGeom prst="rect">
            <a:avLst/>
          </a:prstGeom>
          <a:noFill/>
        </p:spPr>
        <p:txBody>
          <a:bodyPr wrap="square">
            <a:spAutoFit/>
          </a:bodyPr>
          <a:lstStyle/>
          <a:p>
            <a:pPr algn="l"/>
            <a:r>
              <a:rPr sz="1600" b="1" i="0">
                <a:solidFill>
                  <a:srgbClr val="FF7900"/>
                </a:solidFill>
              </a:rPr>
              <a:t>Sécurité et conformité</a:t>
            </a:r>
          </a:p>
        </p:txBody>
      </p:sp>
      <p:sp>
        <p:nvSpPr>
          <p:cNvPr id="7" name="TextBox 6"/>
          <p:cNvSpPr txBox="1"/>
          <p:nvPr/>
        </p:nvSpPr>
        <p:spPr>
          <a:xfrm>
            <a:off x="457200" y="1554480"/>
            <a:ext cx="10972800" cy="457200"/>
          </a:xfrm>
          <a:prstGeom prst="rect">
            <a:avLst/>
          </a:prstGeom>
          <a:noFill/>
        </p:spPr>
        <p:txBody>
          <a:bodyPr wrap="square">
            <a:spAutoFit/>
          </a:bodyPr>
          <a:lstStyle/>
          <a:p>
            <a:pPr algn="l"/>
            <a:r>
              <a:rPr sz="1400" b="1" i="0">
                <a:solidFill>
                  <a:srgbClr val="000000"/>
                </a:solidFill>
              </a:rPr>
              <a:t>Vos données protégées au quotidien</a:t>
            </a:r>
          </a:p>
        </p:txBody>
      </p:sp>
      <p:sp>
        <p:nvSpPr>
          <p:cNvPr id="8" name="TextBox 7"/>
          <p:cNvSpPr txBox="1"/>
          <p:nvPr/>
        </p:nvSpPr>
        <p:spPr>
          <a:xfrm>
            <a:off x="457200" y="2377440"/>
            <a:ext cx="5303520" cy="3200400"/>
          </a:xfrm>
          <a:prstGeom prst="rect">
            <a:avLst/>
          </a:prstGeom>
          <a:noFill/>
        </p:spPr>
        <p:txBody>
          <a:bodyPr wrap="square">
            <a:spAutoFit/>
          </a:bodyPr>
          <a:lstStyle/>
          <a:p>
            <a:pPr algn="l"/>
            <a:r>
              <a:rPr sz="1200" b="1" i="0">
                <a:solidFill>
                  <a:srgbClr val="000000"/>
                </a:solidFill>
              </a:rPr>
              <a:t>Orange garantit à la BIAT une sécurité de niveau bancaire pour la protection de ses données et de ses opérations, conformément aux normes et réglementations en vigueur dans le secteur financier.</a:t>
            </a:r>
          </a:p>
        </p:txBody>
      </p:sp>
      <p:sp>
        <p:nvSpPr>
          <p:cNvPr id="9" name="TextBox 8"/>
          <p:cNvSpPr txBox="1"/>
          <p:nvPr/>
        </p:nvSpPr>
        <p:spPr>
          <a:xfrm>
            <a:off x="6217920" y="2377440"/>
            <a:ext cx="5303520" cy="3200400"/>
          </a:xfrm>
          <a:prstGeom prst="rect">
            <a:avLst/>
          </a:prstGeom>
          <a:noFill/>
        </p:spPr>
        <p:txBody>
          <a:bodyPr wrap="square">
            <a:spAutoFit/>
          </a:bodyPr>
          <a:lstStyle/>
          <a:p>
            <a:pPr algn="l"/>
            <a:r>
              <a:rPr sz="1200" b="1" i="0">
                <a:solidFill>
                  <a:srgbClr val="000000"/>
                </a:solidFill>
              </a:rPr>
              <a:t>Notre infrastructure est conçue pour assurer la confidentialité, l'intégrité et la disponibilité des données.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 cy="320040"/>
          </a:xfrm>
          <a:prstGeom prst="rect">
            <a:avLst/>
          </a:prstGeom>
          <a:noFill/>
        </p:spPr>
        <p:txBody>
          <a:bodyPr wrap="square">
            <a:spAutoFit/>
          </a:bodyPr>
          <a:lstStyle/>
          <a:p>
            <a:pPr algn="l"/>
            <a:r>
              <a:rPr sz="900" b="0" i="0">
                <a:solidFill>
                  <a:srgbClr val="888888"/>
                </a:solidFill>
              </a:rPr>
              <a:t>7</a:t>
            </a:r>
          </a:p>
        </p:txBody>
      </p:sp>
      <p:sp>
        <p:nvSpPr>
          <p:cNvPr id="3" name="TextBox 2"/>
          <p:cNvSpPr txBox="1"/>
          <p:nvPr/>
        </p:nvSpPr>
        <p:spPr>
          <a:xfrm>
            <a:off x="4114800" y="137160"/>
            <a:ext cx="4114800" cy="320040"/>
          </a:xfrm>
          <a:prstGeom prst="rect">
            <a:avLst/>
          </a:prstGeom>
          <a:noFill/>
        </p:spPr>
        <p:txBody>
          <a:bodyPr wrap="square">
            <a:spAutoFit/>
          </a:bodyPr>
          <a:lstStyle/>
          <a:p>
            <a:pPr algn="ctr"/>
            <a:r>
              <a:rPr sz="900" b="0" i="0">
                <a:solidFill>
                  <a:srgbClr val="FF7900"/>
                </a:solidFill>
              </a:rPr>
              <a:t>Orange Restricted</a:t>
            </a:r>
          </a:p>
        </p:txBody>
      </p:sp>
      <p:sp>
        <p:nvSpPr>
          <p:cNvPr id="4" name="Rectangle 3"/>
          <p:cNvSpPr/>
          <p:nvPr/>
        </p:nvSpPr>
        <p:spPr>
          <a:xfrm>
            <a:off x="0" y="50292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p:spPr>
        <p:txBody>
          <a:bodyPr wrap="square">
            <a:spAutoFit/>
          </a:bodyPr>
          <a:lstStyle/>
          <a:p>
            <a:pPr algn="ctr"/>
            <a:r>
              <a:rPr sz="800" b="0" i="0">
                <a:solidFill>
                  <a:srgbClr val="FF7900"/>
                </a:solidFill>
              </a:rPr>
              <a:t>Orange Restricted</a:t>
            </a:r>
          </a:p>
        </p:txBody>
      </p:sp>
      <p:sp>
        <p:nvSpPr>
          <p:cNvPr id="6" name="TextBox 5"/>
          <p:cNvSpPr txBox="1"/>
          <p:nvPr/>
        </p:nvSpPr>
        <p:spPr>
          <a:xfrm>
            <a:off x="457200" y="1097280"/>
            <a:ext cx="10972800" cy="457200"/>
          </a:xfrm>
          <a:prstGeom prst="rect">
            <a:avLst/>
          </a:prstGeom>
          <a:noFill/>
        </p:spPr>
        <p:txBody>
          <a:bodyPr wrap="square">
            <a:spAutoFit/>
          </a:bodyPr>
          <a:lstStyle/>
          <a:p>
            <a:pPr algn="l"/>
            <a:r>
              <a:rPr sz="1600" b="1" i="0">
                <a:solidFill>
                  <a:srgbClr val="FF7900"/>
                </a:solidFill>
              </a:rPr>
              <a:t>Accompagnement et support</a:t>
            </a:r>
          </a:p>
        </p:txBody>
      </p:sp>
      <p:sp>
        <p:nvSpPr>
          <p:cNvPr id="7" name="TextBox 6"/>
          <p:cNvSpPr txBox="1"/>
          <p:nvPr/>
        </p:nvSpPr>
        <p:spPr>
          <a:xfrm>
            <a:off x="457200" y="1554480"/>
            <a:ext cx="10972800" cy="457200"/>
          </a:xfrm>
          <a:prstGeom prst="rect">
            <a:avLst/>
          </a:prstGeom>
          <a:noFill/>
        </p:spPr>
        <p:txBody>
          <a:bodyPr wrap="square">
            <a:spAutoFit/>
          </a:bodyPr>
          <a:lstStyle/>
          <a:p>
            <a:pPr algn="l"/>
            <a:r>
              <a:rPr sz="1400" b="1" i="0">
                <a:solidFill>
                  <a:srgbClr val="000000"/>
                </a:solidFill>
              </a:rPr>
              <a:t>Un partenaire à vos côtés</a:t>
            </a:r>
          </a:p>
        </p:txBody>
      </p:sp>
      <p:sp>
        <p:nvSpPr>
          <p:cNvPr id="8" name="TextBox 7"/>
          <p:cNvSpPr txBox="1"/>
          <p:nvPr/>
        </p:nvSpPr>
        <p:spPr>
          <a:xfrm>
            <a:off x="457200" y="2377440"/>
            <a:ext cx="10972800" cy="640080"/>
          </a:xfrm>
          <a:prstGeom prst="rect">
            <a:avLst/>
          </a:prstGeom>
          <a:noFill/>
        </p:spPr>
        <p:txBody>
          <a:bodyPr wrap="square">
            <a:spAutoFit/>
          </a:bodyPr>
          <a:lstStyle/>
          <a:p>
            <a:pPr algn="l"/>
            <a:r>
              <a:rPr sz="1200" b="1" i="0">
                <a:solidFill>
                  <a:srgbClr val="000000"/>
                </a:solidFill>
              </a:rPr>
              <a:t>Orange s'engage à fournir un support technique dédié à la BIAT pour garantir une mise en œuvre fluide et une assistance continue</a:t>
            </a:r>
          </a:p>
        </p:txBody>
      </p:sp>
      <p:sp>
        <p:nvSpPr>
          <p:cNvPr id="9" name="TextBox 8"/>
          <p:cNvSpPr txBox="1"/>
          <p:nvPr/>
        </p:nvSpPr>
        <p:spPr>
          <a:xfrm>
            <a:off x="457200" y="3200400"/>
            <a:ext cx="10972800" cy="640080"/>
          </a:xfrm>
          <a:prstGeom prst="rect">
            <a:avLst/>
          </a:prstGeom>
          <a:noFill/>
        </p:spPr>
        <p:txBody>
          <a:bodyPr wrap="square">
            <a:spAutoFit/>
          </a:bodyPr>
          <a:lstStyle/>
          <a:p>
            <a:pPr algn="l"/>
            <a:r>
              <a:rPr sz="1200" b="1" i="0">
                <a:solidFill>
                  <a:srgbClr val="000000"/>
                </a:solidFill>
              </a:rPr>
              <a:t>Nous proposons une formation personnalisée pour les équipes de la BIAT afin de maximiser l'utilisation de nos solutions</a:t>
            </a:r>
          </a:p>
        </p:txBody>
      </p:sp>
      <p:sp>
        <p:nvSpPr>
          <p:cNvPr id="10" name="TextBox 9"/>
          <p:cNvSpPr txBox="1"/>
          <p:nvPr/>
        </p:nvSpPr>
        <p:spPr>
          <a:xfrm>
            <a:off x="457200" y="4023360"/>
            <a:ext cx="10972800" cy="640080"/>
          </a:xfrm>
          <a:prstGeom prst="rect">
            <a:avLst/>
          </a:prstGeom>
          <a:noFill/>
        </p:spPr>
        <p:txBody>
          <a:bodyPr wrap="square">
            <a:spAutoFit/>
          </a:bodyPr>
          <a:lstStyle/>
          <a:p>
            <a:pPr algn="l"/>
            <a:r>
              <a:rPr sz="1200" b="1" i="0">
                <a:solidFill>
                  <a:srgbClr val="000000"/>
                </a:solidFill>
              </a:rPr>
              <a:t>Orange assure un suivi régulier des performances et de la sécurité de la solution pour identifier les opportunités d'amélioration et de croissance pour la BIAT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 cy="320040"/>
          </a:xfrm>
          <a:prstGeom prst="rect">
            <a:avLst/>
          </a:prstGeom>
          <a:noFill/>
        </p:spPr>
        <p:txBody>
          <a:bodyPr wrap="square">
            <a:spAutoFit/>
          </a:bodyPr>
          <a:lstStyle/>
          <a:p>
            <a:pPr algn="l"/>
            <a:r>
              <a:rPr sz="900" b="0" i="0">
                <a:solidFill>
                  <a:srgbClr val="888888"/>
                </a:solidFill>
              </a:rPr>
              <a:t>8</a:t>
            </a:r>
          </a:p>
        </p:txBody>
      </p:sp>
      <p:sp>
        <p:nvSpPr>
          <p:cNvPr id="3" name="TextBox 2"/>
          <p:cNvSpPr txBox="1"/>
          <p:nvPr/>
        </p:nvSpPr>
        <p:spPr>
          <a:xfrm>
            <a:off x="4114800" y="137160"/>
            <a:ext cx="4114800" cy="320040"/>
          </a:xfrm>
          <a:prstGeom prst="rect">
            <a:avLst/>
          </a:prstGeom>
          <a:noFill/>
        </p:spPr>
        <p:txBody>
          <a:bodyPr wrap="square">
            <a:spAutoFit/>
          </a:bodyPr>
          <a:lstStyle/>
          <a:p>
            <a:pPr algn="ctr"/>
            <a:r>
              <a:rPr sz="900" b="0" i="0">
                <a:solidFill>
                  <a:srgbClr val="FF7900"/>
                </a:solidFill>
              </a:rPr>
              <a:t>Orange Restricted</a:t>
            </a:r>
          </a:p>
        </p:txBody>
      </p:sp>
      <p:sp>
        <p:nvSpPr>
          <p:cNvPr id="4" name="Rectangle 3"/>
          <p:cNvSpPr/>
          <p:nvPr/>
        </p:nvSpPr>
        <p:spPr>
          <a:xfrm>
            <a:off x="0" y="50292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p:spPr>
        <p:txBody>
          <a:bodyPr wrap="square">
            <a:spAutoFit/>
          </a:bodyPr>
          <a:lstStyle/>
          <a:p>
            <a:pPr algn="ctr"/>
            <a:r>
              <a:rPr sz="800" b="0" i="0">
                <a:solidFill>
                  <a:srgbClr val="FF7900"/>
                </a:solidFill>
              </a:rPr>
              <a:t>Orange Restricted</a:t>
            </a:r>
          </a:p>
        </p:txBody>
      </p:sp>
      <p:sp>
        <p:nvSpPr>
          <p:cNvPr id="6" name="TextBox 5"/>
          <p:cNvSpPr txBox="1"/>
          <p:nvPr/>
        </p:nvSpPr>
        <p:spPr>
          <a:xfrm>
            <a:off x="457200" y="1097280"/>
            <a:ext cx="10972800" cy="457200"/>
          </a:xfrm>
          <a:prstGeom prst="rect">
            <a:avLst/>
          </a:prstGeom>
          <a:noFill/>
        </p:spPr>
        <p:txBody>
          <a:bodyPr wrap="square">
            <a:spAutoFit/>
          </a:bodyPr>
          <a:lstStyle/>
          <a:p>
            <a:pPr algn="l"/>
            <a:r>
              <a:rPr sz="1600" b="1" i="0">
                <a:solidFill>
                  <a:srgbClr val="FF7900"/>
                </a:solidFill>
              </a:rPr>
              <a:t>Tarification et devis</a:t>
            </a:r>
          </a:p>
        </p:txBody>
      </p:sp>
      <p:sp>
        <p:nvSpPr>
          <p:cNvPr id="7" name="TextBox 6"/>
          <p:cNvSpPr txBox="1"/>
          <p:nvPr/>
        </p:nvSpPr>
        <p:spPr>
          <a:xfrm>
            <a:off x="457200" y="1554480"/>
            <a:ext cx="10972800" cy="457200"/>
          </a:xfrm>
          <a:prstGeom prst="rect">
            <a:avLst/>
          </a:prstGeom>
          <a:noFill/>
        </p:spPr>
        <p:txBody>
          <a:bodyPr wrap="square">
            <a:spAutoFit/>
          </a:bodyPr>
          <a:lstStyle/>
          <a:p>
            <a:pPr algn="l"/>
            <a:r>
              <a:rPr sz="1400" b="1" i="0">
                <a:solidFill>
                  <a:srgbClr val="000000"/>
                </a:solidFill>
              </a:rPr>
              <a:t>Détail des licences et coûts</a:t>
            </a:r>
          </a:p>
        </p:txBody>
      </p:sp>
      <p:graphicFrame>
        <p:nvGraphicFramePr>
          <p:cNvPr id="8" name="Table 7"/>
          <p:cNvGraphicFramePr>
            <a:graphicFrameLocks noGrp="1"/>
          </p:cNvGraphicFramePr>
          <p:nvPr/>
        </p:nvGraphicFramePr>
        <p:xfrm>
          <a:off x="457200" y="2286000"/>
          <a:ext cx="11247119" cy="2011680"/>
        </p:xfrm>
        <a:graphic>
          <a:graphicData uri="http://schemas.openxmlformats.org/drawingml/2006/table">
            <a:tbl>
              <a:tblPr firstRow="1" bandRow="1">
                <a:tableStyleId>{5C22544A-7EE6-4342-B048-85BDC9FD1C3A}</a:tableStyleId>
              </a:tblPr>
              <a:tblGrid>
                <a:gridCol w="4498848"/>
                <a:gridCol w="1687068"/>
                <a:gridCol w="2474366"/>
                <a:gridCol w="2586837"/>
              </a:tblGrid>
              <a:tr h="502920">
                <a:tc>
                  <a:txBody>
                    <a:bodyPr/>
                    <a:lstStyle/>
                    <a:p>
                      <a:pPr algn="ctr"/>
                      <a:r>
                        <a:rPr b="1" sz="1100">
                          <a:solidFill>
                            <a:srgbClr val="FFFFFF"/>
                          </a:solidFill>
                        </a:rPr>
                        <a:t>Licence / Offre</a:t>
                      </a:r>
                    </a:p>
                  </a:txBody>
                  <a:tcPr>
                    <a:solidFill>
                      <a:srgbClr val="FF7900"/>
                    </a:solidFill>
                  </a:tcPr>
                </a:tc>
                <a:tc>
                  <a:txBody>
                    <a:bodyPr/>
                    <a:lstStyle/>
                    <a:p>
                      <a:pPr algn="ctr"/>
                      <a:r>
                        <a:rPr b="1" sz="1100">
                          <a:solidFill>
                            <a:srgbClr val="FFFFFF"/>
                          </a:solidFill>
                        </a:rPr>
                        <a:t>Quantité</a:t>
                      </a:r>
                    </a:p>
                  </a:txBody>
                  <a:tcPr>
                    <a:solidFill>
                      <a:srgbClr val="FF7900"/>
                    </a:solidFill>
                  </a:tcPr>
                </a:tc>
                <a:tc>
                  <a:txBody>
                    <a:bodyPr/>
                    <a:lstStyle/>
                    <a:p>
                      <a:pPr algn="ctr"/>
                      <a:r>
                        <a:rPr b="1" sz="1100">
                          <a:solidFill>
                            <a:srgbClr val="FFFFFF"/>
                          </a:solidFill>
                        </a:rPr>
                        <a:t>Prix unitaire</a:t>
                      </a:r>
                    </a:p>
                  </a:txBody>
                  <a:tcPr>
                    <a:solidFill>
                      <a:srgbClr val="FF7900"/>
                    </a:solidFill>
                  </a:tcPr>
                </a:tc>
                <a:tc>
                  <a:txBody>
                    <a:bodyPr/>
                    <a:lstStyle/>
                    <a:p>
                      <a:pPr algn="ctr"/>
                      <a:r>
                        <a:rPr b="1" sz="1100">
                          <a:solidFill>
                            <a:srgbClr val="FFFFFF"/>
                          </a:solidFill>
                        </a:rPr>
                        <a:t>Prix total (TND/an)</a:t>
                      </a:r>
                    </a:p>
                  </a:txBody>
                  <a:tcPr>
                    <a:solidFill>
                      <a:srgbClr val="FF7900"/>
                    </a:solidFill>
                  </a:tcPr>
                </a:tc>
              </a:tr>
              <a:tr h="502920">
                <a:tc>
                  <a:txBody>
                    <a:bodyPr/>
                    <a:lstStyle/>
                    <a:p>
                      <a:pPr algn="l"/>
                      <a:r>
                        <a:rPr sz="1100" b="1">
                          <a:solidFill>
                            <a:srgbClr val="000000"/>
                          </a:solidFill>
                        </a:rPr>
                        <a:t>Fibre Orange Business 200M</a:t>
                      </a:r>
                    </a:p>
                  </a:txBody>
                  <a:tcPr>
                    <a:solidFill>
                      <a:srgbClr val="FFFFFF"/>
                    </a:solidFill>
                  </a:tcPr>
                </a:tc>
                <a:tc>
                  <a:txBody>
                    <a:bodyPr/>
                    <a:lstStyle/>
                    <a:p>
                      <a:pPr algn="ctr"/>
                      <a:r>
                        <a:rPr sz="1100" b="0">
                          <a:solidFill>
                            <a:srgbClr val="000000"/>
                          </a:solidFill>
                        </a:rPr>
                        <a:t>1</a:t>
                      </a:r>
                    </a:p>
                  </a:txBody>
                  <a:tcPr>
                    <a:solidFill>
                      <a:srgbClr val="FFFFFF"/>
                    </a:solidFill>
                  </a:tcPr>
                </a:tc>
                <a:tc>
                  <a:txBody>
                    <a:bodyPr/>
                    <a:lstStyle/>
                    <a:p>
                      <a:pPr algn="ctr"/>
                      <a:r>
                        <a:rPr sz="1100" b="0">
                          <a:solidFill>
                            <a:srgbClr val="000000"/>
                          </a:solidFill>
                        </a:rPr>
                        <a:t>2000.00 TND/mois</a:t>
                      </a:r>
                    </a:p>
                  </a:txBody>
                  <a:tcPr>
                    <a:solidFill>
                      <a:srgbClr val="FFFFFF"/>
                    </a:solidFill>
                  </a:tcPr>
                </a:tc>
                <a:tc>
                  <a:txBody>
                    <a:bodyPr/>
                    <a:lstStyle/>
                    <a:p>
                      <a:pPr algn="ctr"/>
                      <a:r>
                        <a:rPr sz="1100" b="0">
                          <a:solidFill>
                            <a:srgbClr val="000000"/>
                          </a:solidFill>
                        </a:rPr>
                        <a:t>24,000.00</a:t>
                      </a:r>
                    </a:p>
                  </a:txBody>
                  <a:tcPr>
                    <a:solidFill>
                      <a:srgbClr val="FFFFFF"/>
                    </a:solidFill>
                  </a:tcPr>
                </a:tc>
              </a:tr>
              <a:tr h="502920">
                <a:tc>
                  <a:txBody>
                    <a:bodyPr/>
                    <a:lstStyle/>
                    <a:p>
                      <a:pPr algn="l"/>
                      <a:r>
                        <a:rPr sz="1100" b="1">
                          <a:solidFill>
                            <a:srgbClr val="000000"/>
                          </a:solidFill>
                        </a:rPr>
                        <a:t>Microsoft 365 Business Basic</a:t>
                      </a:r>
                    </a:p>
                  </a:txBody>
                  <a:tcPr>
                    <a:solidFill>
                      <a:srgbClr val="FFE0CC"/>
                    </a:solidFill>
                  </a:tcPr>
                </a:tc>
                <a:tc>
                  <a:txBody>
                    <a:bodyPr/>
                    <a:lstStyle/>
                    <a:p>
                      <a:pPr algn="ctr"/>
                      <a:r>
                        <a:rPr sz="1100" b="0">
                          <a:solidFill>
                            <a:srgbClr val="000000"/>
                          </a:solidFill>
                        </a:rPr>
                        <a:t>15</a:t>
                      </a:r>
                    </a:p>
                  </a:txBody>
                  <a:tcPr>
                    <a:solidFill>
                      <a:srgbClr val="FFE0CC"/>
                    </a:solidFill>
                  </a:tcPr>
                </a:tc>
                <a:tc>
                  <a:txBody>
                    <a:bodyPr/>
                    <a:lstStyle/>
                    <a:p>
                      <a:pPr algn="ctr"/>
                      <a:r>
                        <a:rPr sz="1100" b="0">
                          <a:solidFill>
                            <a:srgbClr val="000000"/>
                          </a:solidFill>
                        </a:rPr>
                        <a:t>95.21 TND/an</a:t>
                      </a:r>
                    </a:p>
                  </a:txBody>
                  <a:tcPr>
                    <a:solidFill>
                      <a:srgbClr val="FFE0CC"/>
                    </a:solidFill>
                  </a:tcPr>
                </a:tc>
                <a:tc>
                  <a:txBody>
                    <a:bodyPr/>
                    <a:lstStyle/>
                    <a:p>
                      <a:pPr algn="ctr"/>
                      <a:r>
                        <a:rPr sz="1100" b="0">
                          <a:solidFill>
                            <a:srgbClr val="000000"/>
                          </a:solidFill>
                        </a:rPr>
                        <a:t>1,428.15</a:t>
                      </a:r>
                    </a:p>
                  </a:txBody>
                  <a:tcPr>
                    <a:solidFill>
                      <a:srgbClr val="FFE0CC"/>
                    </a:solidFill>
                  </a:tcPr>
                </a:tc>
              </a:tr>
              <a:tr h="502920">
                <a:tc>
                  <a:txBody>
                    <a:bodyPr/>
                    <a:lstStyle/>
                    <a:p>
                      <a:pPr algn="l"/>
                      <a:r>
                        <a:rPr sz="1100" b="1">
                          <a:solidFill>
                            <a:srgbClr val="FFFFFF"/>
                          </a:solidFill>
                        </a:rPr>
                        <a:t>TOTAL ANNUEL</a:t>
                      </a:r>
                    </a:p>
                  </a:txBody>
                  <a:tcPr>
                    <a:solidFill>
                      <a:srgbClr val="FF7900"/>
                    </a:solidFill>
                  </a:tcPr>
                </a:tc>
                <a:tc>
                  <a:txBody>
                    <a:bodyPr/>
                    <a:lstStyle/>
                    <a:p>
                      <a:pPr algn="ctr"/>
                      <a:r>
                        <a:rPr sz="1100" b="1">
                          <a:solidFill>
                            <a:srgbClr val="FFFFFF"/>
                          </a:solidFill>
                        </a:rPr>
                        <a:t/>
                      </a:r>
                    </a:p>
                  </a:txBody>
                  <a:tcPr>
                    <a:solidFill>
                      <a:srgbClr val="FF7900"/>
                    </a:solidFill>
                  </a:tcPr>
                </a:tc>
                <a:tc>
                  <a:txBody>
                    <a:bodyPr/>
                    <a:lstStyle/>
                    <a:p>
                      <a:pPr algn="ctr"/>
                      <a:r>
                        <a:rPr sz="1100" b="1">
                          <a:solidFill>
                            <a:srgbClr val="FFFFFF"/>
                          </a:solidFill>
                        </a:rPr>
                        <a:t/>
                      </a:r>
                    </a:p>
                  </a:txBody>
                  <a:tcPr>
                    <a:solidFill>
                      <a:srgbClr val="FF7900"/>
                    </a:solidFill>
                  </a:tcPr>
                </a:tc>
                <a:tc>
                  <a:txBody>
                    <a:bodyPr/>
                    <a:lstStyle/>
                    <a:p>
                      <a:pPr algn="ctr"/>
                      <a:r>
                        <a:rPr sz="1100" b="1">
                          <a:solidFill>
                            <a:srgbClr val="FFFFFF"/>
                          </a:solidFill>
                        </a:rPr>
                        <a:t>25,428.15</a:t>
                      </a:r>
                    </a:p>
                  </a:txBody>
                  <a:tcPr>
                    <a:solidFill>
                      <a:srgbClr val="FF7900"/>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7315200" cy="1371600"/>
          </a:xfrm>
          <a:prstGeom prst="rect">
            <a:avLst/>
          </a:prstGeom>
          <a:noFill/>
        </p:spPr>
        <p:txBody>
          <a:bodyPr wrap="square">
            <a:spAutoFit/>
          </a:bodyPr>
          <a:lstStyle/>
          <a:p>
            <a:pPr algn="l"/>
            <a:r>
              <a:rPr sz="4800" b="1" i="0">
                <a:solidFill>
                  <a:srgbClr val="FF7900"/>
                </a:solidFill>
              </a:rPr>
              <a:t>Merci !</a:t>
            </a:r>
          </a:p>
        </p:txBody>
      </p:sp>
      <p:sp>
        <p:nvSpPr>
          <p:cNvPr id="3" name="TextBox 2"/>
          <p:cNvSpPr txBox="1"/>
          <p:nvPr/>
        </p:nvSpPr>
        <p:spPr>
          <a:xfrm>
            <a:off x="457200" y="2743200"/>
            <a:ext cx="7315200" cy="548640"/>
          </a:xfrm>
          <a:prstGeom prst="rect">
            <a:avLst/>
          </a:prstGeom>
          <a:noFill/>
        </p:spPr>
        <p:txBody>
          <a:bodyPr wrap="square">
            <a:spAutoFit/>
          </a:bodyPr>
          <a:lstStyle/>
          <a:p>
            <a:pPr algn="l"/>
            <a:r>
              <a:rPr sz="2000" b="1" i="0">
                <a:solidFill>
                  <a:srgbClr val="000000"/>
                </a:solidFill>
              </a:rPr>
              <a:t>Contact et prochaines étapes</a:t>
            </a:r>
          </a:p>
        </p:txBody>
      </p:sp>
      <p:sp>
        <p:nvSpPr>
          <p:cNvPr id="4" name="TextBox 3"/>
          <p:cNvSpPr txBox="1"/>
          <p:nvPr/>
        </p:nvSpPr>
        <p:spPr>
          <a:xfrm>
            <a:off x="457200" y="3657600"/>
            <a:ext cx="7315200" cy="914400"/>
          </a:xfrm>
          <a:prstGeom prst="rect">
            <a:avLst/>
          </a:prstGeom>
          <a:noFill/>
        </p:spPr>
        <p:txBody>
          <a:bodyPr wrap="square">
            <a:spAutoFit/>
          </a:bodyPr>
          <a:lstStyle/>
          <a:p>
            <a:pPr algn="l"/>
            <a:r>
              <a:rPr sz="1200" b="0" i="0">
                <a:solidFill>
                  <a:srgbClr val="000000"/>
                </a:solidFill>
              </a:rPr>
              <a:t>Nous sommes convaincus que notre offre répond aux besoins spécifiques de la BIAT et nous sommes impatients de collaborer étroitement avec votre équipe pour atteindre les objectifs de votre institution.</a:t>
            </a:r>
          </a:p>
        </p:txBody>
      </p:sp>
      <p:pic>
        <p:nvPicPr>
          <p:cNvPr id="5" name="Picture 4" descr="Company-rafiki.png"/>
          <p:cNvPicPr>
            <a:picLocks noChangeAspect="1"/>
          </p:cNvPicPr>
          <p:nvPr/>
        </p:nvPicPr>
        <p:blipFill>
          <a:blip r:embed="rId2"/>
          <a:stretch>
            <a:fillRect/>
          </a:stretch>
        </p:blipFill>
        <p:spPr>
          <a:xfrm>
            <a:off x="7772400" y="914400"/>
            <a:ext cx="4114800" cy="5029200"/>
          </a:xfrm>
          <a:prstGeom prst="rect">
            <a:avLst/>
          </a:prstGeom>
        </p:spPr>
      </p:pic>
      <p:sp>
        <p:nvSpPr>
          <p:cNvPr id="6" name="TextBox 5"/>
          <p:cNvSpPr txBox="1"/>
          <p:nvPr/>
        </p:nvSpPr>
        <p:spPr>
          <a:xfrm>
            <a:off x="4114800" y="6537960"/>
            <a:ext cx="4114800" cy="274320"/>
          </a:xfrm>
          <a:prstGeom prst="rect">
            <a:avLst/>
          </a:prstGeom>
          <a:noFill/>
        </p:spPr>
        <p:txBody>
          <a:bodyPr wrap="square">
            <a:spAutoFit/>
          </a:bodyPr>
          <a:lstStyle/>
          <a:p>
            <a:pPr algn="ctr"/>
            <a:r>
              <a:rPr sz="800" b="0" i="0">
                <a:solidFill>
                  <a:srgbClr val="FF7900"/>
                </a:solidFill>
              </a:rPr>
              <a:t>Orange Restricted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
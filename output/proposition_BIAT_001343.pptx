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686800" y="274320"/>
            <a:ext cx="3200400" cy="365760"/>
          </a:xfrm>
          <a:prstGeom prst="rect">
            <a:avLst/>
          </a:prstGeom>
          <a:noFill/>
          <a:ln>
            <a:noFill/>
          </a:ln>
        </p:spPr>
        <p:txBody>
          <a:bodyPr wrap="square">
            <a:spAutoFit/>
          </a:bodyPr>
          <a:lstStyle/>
          <a:p>
            <a:pPr algn="r"/>
            <a:r>
              <a:rPr sz="1200" b="1" i="0">
                <a:solidFill>
                  <a:srgbClr val="FF7900"/>
                </a:solidFill>
              </a:rPr>
              <a:t>18 avril 2026</a:t>
            </a:r>
          </a:p>
        </p:txBody>
      </p:sp>
      <p:sp>
        <p:nvSpPr>
          <p:cNvPr id="3" name="TextBox 2"/>
          <p:cNvSpPr txBox="1"/>
          <p:nvPr/>
        </p:nvSpPr>
        <p:spPr>
          <a:xfrm>
            <a:off x="457200" y="914400"/>
            <a:ext cx="7772400" cy="2011680"/>
          </a:xfrm>
          <a:prstGeom prst="rect">
            <a:avLst/>
          </a:prstGeom>
          <a:noFill/>
          <a:ln>
            <a:noFill/>
          </a:ln>
        </p:spPr>
        <p:txBody>
          <a:bodyPr wrap="square">
            <a:spAutoFit/>
          </a:bodyPr>
          <a:lstStyle/>
          <a:p>
            <a:pPr algn="l"/>
            <a:r>
              <a:rPr sz="4000" b="1" i="0">
                <a:solidFill>
                  <a:srgbClr val="FF7900"/>
                </a:solidFill>
              </a:rPr>
              <a:t>Offre commerciale
Connectivité &amp; Cloud</a:t>
            </a:r>
          </a:p>
        </p:txBody>
      </p:sp>
      <p:sp>
        <p:nvSpPr>
          <p:cNvPr id="4" name="TextBox 3"/>
          <p:cNvSpPr txBox="1"/>
          <p:nvPr/>
        </p:nvSpPr>
        <p:spPr>
          <a:xfrm>
            <a:off x="457200" y="3017520"/>
            <a:ext cx="7772400" cy="822960"/>
          </a:xfrm>
          <a:prstGeom prst="rect">
            <a:avLst/>
          </a:prstGeom>
          <a:noFill/>
          <a:ln>
            <a:noFill/>
          </a:ln>
        </p:spPr>
        <p:txBody>
          <a:bodyPr wrap="square">
            <a:spAutoFit/>
          </a:bodyPr>
          <a:lstStyle/>
          <a:p>
            <a:pPr algn="l"/>
            <a:r>
              <a:rPr sz="1800" b="1" i="0">
                <a:solidFill>
                  <a:srgbClr val="000000"/>
                </a:solidFill>
              </a:rPr>
              <a:t>Fibre FTTO + Microsoft 365 pour BIAT</a:t>
            </a:r>
          </a:p>
        </p:txBody>
      </p:sp>
      <p:sp>
        <p:nvSpPr>
          <p:cNvPr id="5" name="Rectangle 4"/>
          <p:cNvSpPr/>
          <p:nvPr/>
        </p:nvSpPr>
        <p:spPr>
          <a:xfrm>
            <a:off x="0" y="6309360"/>
            <a:ext cx="12188952" cy="5486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range logo.png"/>
          <p:cNvPicPr>
            <a:picLocks noChangeAspect="1"/>
          </p:cNvPicPr>
          <p:nvPr/>
        </p:nvPicPr>
        <p:blipFill>
          <a:blip r:embed="rId2"/>
          <a:stretch>
            <a:fillRect/>
          </a:stretch>
        </p:blipFill>
        <p:spPr>
          <a:xfrm>
            <a:off x="274320" y="5669280"/>
            <a:ext cx="1097280" cy="731520"/>
          </a:xfrm>
          <a:prstGeom prst="rect">
            <a:avLst/>
          </a:prstGeom>
        </p:spPr>
      </p:pic>
      <p:sp>
        <p:nvSpPr>
          <p:cNvPr id="7" name="TextBox 6"/>
          <p:cNvSpPr txBox="1"/>
          <p:nvPr/>
        </p:nvSpPr>
        <p:spPr>
          <a:xfrm>
            <a:off x="6400800" y="6355080"/>
            <a:ext cx="5486400" cy="411480"/>
          </a:xfrm>
          <a:prstGeom prst="rect">
            <a:avLst/>
          </a:prstGeom>
          <a:noFill/>
          <a:ln>
            <a:noFill/>
          </a:ln>
        </p:spPr>
        <p:txBody>
          <a:bodyPr wrap="square">
            <a:spAutoFit/>
          </a:bodyPr>
          <a:lstStyle/>
          <a:p>
            <a:pPr algn="r"/>
            <a:r>
              <a:rPr sz="800" b="0" i="0">
                <a:solidFill>
                  <a:srgbClr val="FFFFFF"/>
                </a:solidFill>
              </a:rPr>
              <a:t>Généré par IA avec l'outil Orange Business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0" y="6537960"/>
            <a:ext cx="4114800" cy="274320"/>
          </a:xfrm>
          <a:prstGeom prst="rect">
            <a:avLst/>
          </a:prstGeom>
          <a:noFill/>
          <a:ln>
            <a:noFill/>
          </a:ln>
        </p:spPr>
        <p:txBody>
          <a:bodyPr wrap="square">
            <a:spAutoFit/>
          </a:bodyPr>
          <a:lstStyle/>
          <a:p>
            <a:pPr algn="ctr"/>
            <a:r>
              <a:rPr sz="800" b="0" i="0">
                <a:solidFill>
                  <a:srgbClr val="FF7900"/>
                </a:solidFill>
              </a:rPr>
              <a:t>Orange Restricted</a:t>
            </a:r>
          </a:p>
        </p:txBody>
      </p:sp>
      <p:sp>
        <p:nvSpPr>
          <p:cNvPr id="3" name="TextBox 2"/>
          <p:cNvSpPr txBox="1"/>
          <p:nvPr/>
        </p:nvSpPr>
        <p:spPr>
          <a:xfrm>
            <a:off x="274320" y="6537960"/>
            <a:ext cx="731520" cy="274320"/>
          </a:xfrm>
          <a:prstGeom prst="rect">
            <a:avLst/>
          </a:prstGeom>
          <a:noFill/>
          <a:ln>
            <a:noFill/>
          </a:ln>
        </p:spPr>
        <p:txBody>
          <a:bodyPr wrap="square">
            <a:spAutoFit/>
          </a:bodyPr>
          <a:lstStyle/>
          <a:p>
            <a:pPr algn="l"/>
            <a:r>
              <a:rPr sz="800" b="0" i="0">
                <a:solidFill>
                  <a:srgbClr val="888888"/>
                </a:solidFill>
              </a:rPr>
              <a:t>2</a:t>
            </a:r>
          </a:p>
        </p:txBody>
      </p:sp>
      <p:sp>
        <p:nvSpPr>
          <p:cNvPr id="4" name="TextBox 3"/>
          <p:cNvSpPr txBox="1"/>
          <p:nvPr/>
        </p:nvSpPr>
        <p:spPr>
          <a:xfrm>
            <a:off x="457200" y="731520"/>
            <a:ext cx="6858000" cy="1828800"/>
          </a:xfrm>
          <a:prstGeom prst="rect">
            <a:avLst/>
          </a:prstGeom>
          <a:noFill/>
          <a:ln>
            <a:noFill/>
          </a:ln>
        </p:spPr>
        <p:txBody>
          <a:bodyPr wrap="square">
            <a:spAutoFit/>
          </a:bodyPr>
          <a:lstStyle/>
          <a:p>
            <a:pPr algn="l"/>
            <a:r>
              <a:rPr sz="3600" b="1" i="0">
                <a:solidFill>
                  <a:srgbClr val="000000"/>
                </a:solidFill>
              </a:rPr>
              <a:t>Pourquoi Connectivité &amp; Cloud ?</a:t>
            </a:r>
          </a:p>
        </p:txBody>
      </p:sp>
      <p:sp>
        <p:nvSpPr>
          <p:cNvPr id="5" name="TextBox 4"/>
          <p:cNvSpPr txBox="1"/>
          <p:nvPr/>
        </p:nvSpPr>
        <p:spPr>
          <a:xfrm>
            <a:off x="457200" y="2743200"/>
            <a:ext cx="6583680" cy="2743200"/>
          </a:xfrm>
          <a:prstGeom prst="rect">
            <a:avLst/>
          </a:prstGeom>
          <a:noFill/>
          <a:ln>
            <a:noFill/>
          </a:ln>
        </p:spPr>
        <p:txBody>
          <a:bodyPr wrap="square">
            <a:spAutoFit/>
          </a:bodyPr>
          <a:lstStyle/>
          <a:p>
            <a:pPr algn="l"/>
            <a:r>
              <a:rPr sz="1300" b="1" i="0">
                <a:solidFill>
                  <a:srgbClr val="000000"/>
                </a:solidFill>
              </a:rPr>
              <a:t>Notre offre de fibre 200 Mbps et de Microsoft 365 Business Basic est spécifiquement conçue pour répondre aux besoins de sécurité et de performance de la banque BIAT. En effet, le secteur bancaire nécessite une infrastructure de communication fiable et sécurisée pour protéger les données sensibles de ses clients. Notre solution permet à BIAT de bénéficier d'une connexion rapide et sécurisée pour ses activités quotidiennes.</a:t>
            </a:r>
          </a:p>
        </p:txBody>
      </p:sp>
      <p:pic>
        <p:nvPicPr>
          <p:cNvPr id="6" name="Picture 5" descr="Shared goals-rafiki.png"/>
          <p:cNvPicPr>
            <a:picLocks noChangeAspect="1"/>
          </p:cNvPicPr>
          <p:nvPr/>
        </p:nvPicPr>
        <p:blipFill>
          <a:blip r:embed="rId2"/>
          <a:stretch>
            <a:fillRect/>
          </a:stretch>
        </p:blipFill>
        <p:spPr>
          <a:xfrm>
            <a:off x="7132320" y="457200"/>
            <a:ext cx="4754880" cy="54864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45720"/>
            <a:ext cx="731520" cy="320040"/>
          </a:xfrm>
          <a:prstGeom prst="rect">
            <a:avLst/>
          </a:prstGeom>
          <a:noFill/>
          <a:ln>
            <a:noFill/>
          </a:ln>
        </p:spPr>
        <p:txBody>
          <a:bodyPr wrap="square">
            <a:spAutoFit/>
          </a:bodyPr>
          <a:lstStyle/>
          <a:p>
            <a:pPr algn="l"/>
            <a:r>
              <a:rPr sz="900" b="0" i="0">
                <a:solidFill>
                  <a:srgbClr val="888888"/>
                </a:solidFill>
              </a:rPr>
              <a:t>3</a:t>
            </a:r>
          </a:p>
        </p:txBody>
      </p:sp>
      <p:sp>
        <p:nvSpPr>
          <p:cNvPr id="3" name="TextBox 2"/>
          <p:cNvSpPr txBox="1"/>
          <p:nvPr/>
        </p:nvSpPr>
        <p:spPr>
          <a:xfrm>
            <a:off x="4114800" y="45720"/>
            <a:ext cx="4114800" cy="320040"/>
          </a:xfrm>
          <a:prstGeom prst="rect">
            <a:avLst/>
          </a:prstGeom>
          <a:noFill/>
          <a:ln>
            <a:noFill/>
          </a:ln>
        </p:spPr>
        <p:txBody>
          <a:bodyPr wrap="square">
            <a:spAutoFit/>
          </a:bodyPr>
          <a:lstStyle/>
          <a:p>
            <a:pPr algn="ctr"/>
            <a:r>
              <a:rPr sz="900" b="0" i="0">
                <a:solidFill>
                  <a:srgbClr val="FF7900"/>
                </a:solidFill>
              </a:rPr>
              <a:t>Orange Restricted</a:t>
            </a:r>
          </a:p>
        </p:txBody>
      </p:sp>
      <p:sp>
        <p:nvSpPr>
          <p:cNvPr id="4" name="Rectangle 3"/>
          <p:cNvSpPr/>
          <p:nvPr/>
        </p:nvSpPr>
        <p:spPr>
          <a:xfrm>
            <a:off x="0" y="41148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a:ln>
            <a:noFill/>
          </a:ln>
        </p:spPr>
        <p:txBody>
          <a:bodyPr wrap="square">
            <a:spAutoFit/>
          </a:bodyPr>
          <a:lstStyle/>
          <a:p>
            <a:pPr algn="ctr"/>
            <a:r>
              <a:rPr sz="800" b="0" i="0">
                <a:solidFill>
                  <a:srgbClr val="FF7900"/>
                </a:solidFill>
              </a:rPr>
              <a:t>Orange Restricted</a:t>
            </a:r>
          </a:p>
        </p:txBody>
      </p:sp>
      <p:sp>
        <p:nvSpPr>
          <p:cNvPr id="6" name="TextBox 5"/>
          <p:cNvSpPr txBox="1"/>
          <p:nvPr/>
        </p:nvSpPr>
        <p:spPr>
          <a:xfrm>
            <a:off x="457200" y="1188720"/>
            <a:ext cx="10972800" cy="457200"/>
          </a:xfrm>
          <a:prstGeom prst="rect">
            <a:avLst/>
          </a:prstGeom>
          <a:noFill/>
          <a:ln>
            <a:noFill/>
          </a:ln>
        </p:spPr>
        <p:txBody>
          <a:bodyPr wrap="square">
            <a:spAutoFit/>
          </a:bodyPr>
          <a:lstStyle/>
          <a:p>
            <a:pPr algn="l"/>
            <a:r>
              <a:rPr sz="1500" b="1" i="0">
                <a:solidFill>
                  <a:srgbClr val="FF7900"/>
                </a:solidFill>
              </a:rPr>
              <a:t>Les bénéfices pour votre entreprise</a:t>
            </a:r>
          </a:p>
        </p:txBody>
      </p:sp>
      <p:sp>
        <p:nvSpPr>
          <p:cNvPr id="7" name="TextBox 6"/>
          <p:cNvSpPr txBox="1"/>
          <p:nvPr/>
        </p:nvSpPr>
        <p:spPr>
          <a:xfrm>
            <a:off x="457200" y="1645920"/>
            <a:ext cx="10972800" cy="457200"/>
          </a:xfrm>
          <a:prstGeom prst="rect">
            <a:avLst/>
          </a:prstGeom>
          <a:noFill/>
          <a:ln>
            <a:noFill/>
          </a:ln>
        </p:spPr>
        <p:txBody>
          <a:bodyPr wrap="square">
            <a:spAutoFit/>
          </a:bodyPr>
          <a:lstStyle/>
          <a:p>
            <a:pPr algn="l"/>
            <a:r>
              <a:rPr sz="1500" b="1" i="0">
                <a:solidFill>
                  <a:srgbClr val="000000"/>
                </a:solidFill>
              </a:rPr>
              <a:t>Productivité, mobilité et collaboration</a:t>
            </a:r>
          </a:p>
        </p:txBody>
      </p:sp>
      <p:sp>
        <p:nvSpPr>
          <p:cNvPr id="8" name="TextBox 7"/>
          <p:cNvSpPr txBox="1"/>
          <p:nvPr/>
        </p:nvSpPr>
        <p:spPr>
          <a:xfrm>
            <a:off x="457200" y="2377440"/>
            <a:ext cx="11247120" cy="685800"/>
          </a:xfrm>
          <a:prstGeom prst="rect">
            <a:avLst/>
          </a:prstGeom>
          <a:noFill/>
          <a:ln>
            <a:noFill/>
          </a:ln>
        </p:spPr>
        <p:txBody>
          <a:bodyPr wrap="square">
            <a:spAutoFit/>
          </a:bodyPr>
          <a:lstStyle/>
          <a:p>
            <a:pPr algn="l"/>
            <a:r>
              <a:rPr sz="1200" b="1" i="0">
                <a:solidFill>
                  <a:srgbClr val="000000"/>
                </a:solidFill>
              </a:rPr>
              <a:t>Améliorer la productivité de ses équipes grâce à une connexion internet rapide et fiable</a:t>
            </a:r>
          </a:p>
        </p:txBody>
      </p:sp>
      <p:sp>
        <p:nvSpPr>
          <p:cNvPr id="9" name="TextBox 8"/>
          <p:cNvSpPr txBox="1"/>
          <p:nvPr/>
        </p:nvSpPr>
        <p:spPr>
          <a:xfrm>
            <a:off x="457200" y="3291840"/>
            <a:ext cx="11247120" cy="685800"/>
          </a:xfrm>
          <a:prstGeom prst="rect">
            <a:avLst/>
          </a:prstGeom>
          <a:noFill/>
          <a:ln>
            <a:noFill/>
          </a:ln>
        </p:spPr>
        <p:txBody>
          <a:bodyPr wrap="square">
            <a:spAutoFit/>
          </a:bodyPr>
          <a:lstStyle/>
          <a:p>
            <a:pPr algn="l"/>
            <a:r>
              <a:rPr sz="1200" b="1" i="0">
                <a:solidFill>
                  <a:srgbClr val="000000"/>
                </a:solidFill>
              </a:rPr>
              <a:t>Réduire les coûts de maintenance et de gestion de son infrastructure informatique</a:t>
            </a:r>
          </a:p>
        </p:txBody>
      </p:sp>
      <p:sp>
        <p:nvSpPr>
          <p:cNvPr id="10" name="TextBox 9"/>
          <p:cNvSpPr txBox="1"/>
          <p:nvPr/>
        </p:nvSpPr>
        <p:spPr>
          <a:xfrm>
            <a:off x="457200" y="4206240"/>
            <a:ext cx="11247120" cy="685800"/>
          </a:xfrm>
          <a:prstGeom prst="rect">
            <a:avLst/>
          </a:prstGeom>
          <a:noFill/>
          <a:ln>
            <a:noFill/>
          </a:ln>
        </p:spPr>
        <p:txBody>
          <a:bodyPr wrap="square">
            <a:spAutoFit/>
          </a:bodyPr>
          <a:lstStyle/>
          <a:p>
            <a:pPr algn="l"/>
            <a:r>
              <a:rPr sz="1200" b="1" i="0">
                <a:solidFill>
                  <a:srgbClr val="000000"/>
                </a:solidFill>
              </a:rPr>
              <a:t>Augmenter la sécurité de ses données et de ses communications avec des outils de protection avancés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45720"/>
            <a:ext cx="731520" cy="320040"/>
          </a:xfrm>
          <a:prstGeom prst="rect">
            <a:avLst/>
          </a:prstGeom>
          <a:noFill/>
          <a:ln>
            <a:noFill/>
          </a:ln>
        </p:spPr>
        <p:txBody>
          <a:bodyPr wrap="square">
            <a:spAutoFit/>
          </a:bodyPr>
          <a:lstStyle/>
          <a:p>
            <a:pPr algn="l"/>
            <a:r>
              <a:rPr sz="900" b="0" i="0">
                <a:solidFill>
                  <a:srgbClr val="888888"/>
                </a:solidFill>
              </a:rPr>
              <a:t>4</a:t>
            </a:r>
          </a:p>
        </p:txBody>
      </p:sp>
      <p:sp>
        <p:nvSpPr>
          <p:cNvPr id="3" name="TextBox 2"/>
          <p:cNvSpPr txBox="1"/>
          <p:nvPr/>
        </p:nvSpPr>
        <p:spPr>
          <a:xfrm>
            <a:off x="4114800" y="45720"/>
            <a:ext cx="4114800" cy="320040"/>
          </a:xfrm>
          <a:prstGeom prst="rect">
            <a:avLst/>
          </a:prstGeom>
          <a:noFill/>
          <a:ln>
            <a:noFill/>
          </a:ln>
        </p:spPr>
        <p:txBody>
          <a:bodyPr wrap="square">
            <a:spAutoFit/>
          </a:bodyPr>
          <a:lstStyle/>
          <a:p>
            <a:pPr algn="ctr"/>
            <a:r>
              <a:rPr sz="900" b="0" i="0">
                <a:solidFill>
                  <a:srgbClr val="FF7900"/>
                </a:solidFill>
              </a:rPr>
              <a:t>Orange Restricted</a:t>
            </a:r>
          </a:p>
        </p:txBody>
      </p:sp>
      <p:sp>
        <p:nvSpPr>
          <p:cNvPr id="4" name="Rectangle 3"/>
          <p:cNvSpPr/>
          <p:nvPr/>
        </p:nvSpPr>
        <p:spPr>
          <a:xfrm>
            <a:off x="0" y="41148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a:ln>
            <a:noFill/>
          </a:ln>
        </p:spPr>
        <p:txBody>
          <a:bodyPr wrap="square">
            <a:spAutoFit/>
          </a:bodyPr>
          <a:lstStyle/>
          <a:p>
            <a:pPr algn="ctr"/>
            <a:r>
              <a:rPr sz="800" b="0" i="0">
                <a:solidFill>
                  <a:srgbClr val="FF7900"/>
                </a:solidFill>
              </a:rPr>
              <a:t>Orange Restricted</a:t>
            </a:r>
          </a:p>
        </p:txBody>
      </p:sp>
      <p:sp>
        <p:nvSpPr>
          <p:cNvPr id="6" name="TextBox 5"/>
          <p:cNvSpPr txBox="1"/>
          <p:nvPr/>
        </p:nvSpPr>
        <p:spPr>
          <a:xfrm>
            <a:off x="457200" y="1188720"/>
            <a:ext cx="10972800" cy="457200"/>
          </a:xfrm>
          <a:prstGeom prst="rect">
            <a:avLst/>
          </a:prstGeom>
          <a:noFill/>
          <a:ln>
            <a:noFill/>
          </a:ln>
        </p:spPr>
        <p:txBody>
          <a:bodyPr wrap="square">
            <a:spAutoFit/>
          </a:bodyPr>
          <a:lstStyle/>
          <a:p>
            <a:pPr algn="l"/>
            <a:r>
              <a:rPr sz="1500" b="1" i="0">
                <a:solidFill>
                  <a:srgbClr val="FF7900"/>
                </a:solidFill>
              </a:rPr>
              <a:t>Fonctionnalités clés de votre solution</a:t>
            </a:r>
          </a:p>
        </p:txBody>
      </p:sp>
      <p:sp>
        <p:nvSpPr>
          <p:cNvPr id="7" name="TextBox 6"/>
          <p:cNvSpPr txBox="1"/>
          <p:nvPr/>
        </p:nvSpPr>
        <p:spPr>
          <a:xfrm>
            <a:off x="457200" y="1645920"/>
            <a:ext cx="10972800" cy="457200"/>
          </a:xfrm>
          <a:prstGeom prst="rect">
            <a:avLst/>
          </a:prstGeom>
          <a:noFill/>
          <a:ln>
            <a:noFill/>
          </a:ln>
        </p:spPr>
        <p:txBody>
          <a:bodyPr wrap="square">
            <a:spAutoFit/>
          </a:bodyPr>
          <a:lstStyle/>
          <a:p>
            <a:pPr algn="l"/>
            <a:r>
              <a:rPr sz="1400" b="1" i="0">
                <a:solidFill>
                  <a:srgbClr val="000000"/>
                </a:solidFill>
              </a:rPr>
              <a:t>Des outils puissants pour votre quotidien</a:t>
            </a:r>
          </a:p>
        </p:txBody>
      </p:sp>
      <p:sp>
        <p:nvSpPr>
          <p:cNvPr id="8" name="Rectangle 7"/>
          <p:cNvSpPr/>
          <p:nvPr/>
        </p:nvSpPr>
        <p:spPr>
          <a:xfrm>
            <a:off x="457200" y="2286000"/>
            <a:ext cx="3474720" cy="1463040"/>
          </a:xfrm>
          <a:prstGeom prst="rect">
            <a:avLst/>
          </a:prstGeom>
          <a:solidFill>
            <a:srgbClr val="FF7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ollaboration.png"/>
          <p:cNvPicPr>
            <a:picLocks noChangeAspect="1"/>
          </p:cNvPicPr>
          <p:nvPr/>
        </p:nvPicPr>
        <p:blipFill>
          <a:blip r:embed="rId2"/>
          <a:stretch>
            <a:fillRect/>
          </a:stretch>
        </p:blipFill>
        <p:spPr>
          <a:xfrm>
            <a:off x="1874520" y="2377440"/>
            <a:ext cx="640080" cy="640080"/>
          </a:xfrm>
          <a:prstGeom prst="rect">
            <a:avLst/>
          </a:prstGeom>
        </p:spPr>
      </p:pic>
      <p:sp>
        <p:nvSpPr>
          <p:cNvPr id="10" name="TextBox 9"/>
          <p:cNvSpPr txBox="1"/>
          <p:nvPr/>
        </p:nvSpPr>
        <p:spPr>
          <a:xfrm>
            <a:off x="457200" y="2423160"/>
            <a:ext cx="3474720" cy="731520"/>
          </a:xfrm>
          <a:prstGeom prst="rect">
            <a:avLst/>
          </a:prstGeom>
          <a:noFill/>
          <a:ln>
            <a:noFill/>
          </a:ln>
        </p:spPr>
        <p:txBody>
          <a:bodyPr wrap="square">
            <a:spAutoFit/>
          </a:bodyPr>
          <a:lstStyle/>
          <a:p>
            <a:pPr algn="ctr"/>
            <a:r>
              <a:rPr sz="1200" b="1" i="0">
                <a:solidFill>
                  <a:srgbClr val="FFFFFF"/>
                </a:solidFill>
              </a:rPr>
              <a:t>Collaboration en temps réel</a:t>
            </a:r>
          </a:p>
        </p:txBody>
      </p:sp>
      <p:sp>
        <p:nvSpPr>
          <p:cNvPr id="11" name="TextBox 10"/>
          <p:cNvSpPr txBox="1"/>
          <p:nvPr/>
        </p:nvSpPr>
        <p:spPr>
          <a:xfrm>
            <a:off x="457200" y="3840480"/>
            <a:ext cx="3474720" cy="1828800"/>
          </a:xfrm>
          <a:prstGeom prst="rect">
            <a:avLst/>
          </a:prstGeom>
          <a:noFill/>
          <a:ln>
            <a:noFill/>
          </a:ln>
        </p:spPr>
        <p:txBody>
          <a:bodyPr wrap="square">
            <a:spAutoFit/>
          </a:bodyPr>
          <a:lstStyle/>
          <a:p>
            <a:pPr algn="l"/>
            <a:r>
              <a:rPr sz="1000" b="0" i="0">
                <a:solidFill>
                  <a:srgbClr val="000000"/>
                </a:solidFill>
              </a:rPr>
              <a:t>Travaillez ensemble sur vos documents avec OneDrive et SharePoint, même à distance.</a:t>
            </a:r>
          </a:p>
        </p:txBody>
      </p:sp>
      <p:sp>
        <p:nvSpPr>
          <p:cNvPr id="12" name="Rectangle 11"/>
          <p:cNvSpPr/>
          <p:nvPr/>
        </p:nvSpPr>
        <p:spPr>
          <a:xfrm>
            <a:off x="4206240" y="2286000"/>
            <a:ext cx="3474720" cy="1463040"/>
          </a:xfrm>
          <a:prstGeom prst="rect">
            <a:avLst/>
          </a:prstGeom>
          <a:solidFill>
            <a:srgbClr val="FF7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martphone.png"/>
          <p:cNvPicPr>
            <a:picLocks noChangeAspect="1"/>
          </p:cNvPicPr>
          <p:nvPr/>
        </p:nvPicPr>
        <p:blipFill>
          <a:blip r:embed="rId3"/>
          <a:stretch>
            <a:fillRect/>
          </a:stretch>
        </p:blipFill>
        <p:spPr>
          <a:xfrm>
            <a:off x="5623560" y="2377440"/>
            <a:ext cx="640080" cy="640080"/>
          </a:xfrm>
          <a:prstGeom prst="rect">
            <a:avLst/>
          </a:prstGeom>
        </p:spPr>
      </p:pic>
      <p:sp>
        <p:nvSpPr>
          <p:cNvPr id="14" name="TextBox 13"/>
          <p:cNvSpPr txBox="1"/>
          <p:nvPr/>
        </p:nvSpPr>
        <p:spPr>
          <a:xfrm>
            <a:off x="4206240" y="2423160"/>
            <a:ext cx="3474720" cy="731520"/>
          </a:xfrm>
          <a:prstGeom prst="rect">
            <a:avLst/>
          </a:prstGeom>
          <a:noFill/>
          <a:ln>
            <a:noFill/>
          </a:ln>
        </p:spPr>
        <p:txBody>
          <a:bodyPr wrap="square">
            <a:spAutoFit/>
          </a:bodyPr>
          <a:lstStyle/>
          <a:p>
            <a:pPr algn="ctr"/>
            <a:r>
              <a:rPr sz="1200" b="1" i="0">
                <a:solidFill>
                  <a:srgbClr val="FFFFFF"/>
                </a:solidFill>
              </a:rPr>
              <a:t>Mobilité et accès sécurisé</a:t>
            </a:r>
          </a:p>
        </p:txBody>
      </p:sp>
      <p:sp>
        <p:nvSpPr>
          <p:cNvPr id="15" name="TextBox 14"/>
          <p:cNvSpPr txBox="1"/>
          <p:nvPr/>
        </p:nvSpPr>
        <p:spPr>
          <a:xfrm>
            <a:off x="4206240" y="3840480"/>
            <a:ext cx="3474720" cy="1828800"/>
          </a:xfrm>
          <a:prstGeom prst="rect">
            <a:avLst/>
          </a:prstGeom>
          <a:noFill/>
          <a:ln>
            <a:noFill/>
          </a:ln>
        </p:spPr>
        <p:txBody>
          <a:bodyPr wrap="square">
            <a:spAutoFit/>
          </a:bodyPr>
          <a:lstStyle/>
          <a:p>
            <a:pPr algn="l"/>
            <a:r>
              <a:rPr sz="1000" b="0" i="0">
                <a:solidFill>
                  <a:srgbClr val="000000"/>
                </a:solidFill>
              </a:rPr>
              <a:t>Fibre 200 Mbps garantis. Connexion dédiée FTTO pour votre entreprise.</a:t>
            </a:r>
          </a:p>
        </p:txBody>
      </p:sp>
      <p:sp>
        <p:nvSpPr>
          <p:cNvPr id="16" name="Rectangle 15"/>
          <p:cNvSpPr/>
          <p:nvPr/>
        </p:nvSpPr>
        <p:spPr>
          <a:xfrm>
            <a:off x="7955279" y="2286000"/>
            <a:ext cx="3474720" cy="1463040"/>
          </a:xfrm>
          <a:prstGeom prst="rect">
            <a:avLst/>
          </a:prstGeom>
          <a:solidFill>
            <a:srgbClr val="FF7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eeting.png"/>
          <p:cNvPicPr>
            <a:picLocks noChangeAspect="1"/>
          </p:cNvPicPr>
          <p:nvPr/>
        </p:nvPicPr>
        <p:blipFill>
          <a:blip r:embed="rId4"/>
          <a:stretch>
            <a:fillRect/>
          </a:stretch>
        </p:blipFill>
        <p:spPr>
          <a:xfrm>
            <a:off x="9372599" y="2377440"/>
            <a:ext cx="640080" cy="640080"/>
          </a:xfrm>
          <a:prstGeom prst="rect">
            <a:avLst/>
          </a:prstGeom>
        </p:spPr>
      </p:pic>
      <p:sp>
        <p:nvSpPr>
          <p:cNvPr id="18" name="TextBox 17"/>
          <p:cNvSpPr txBox="1"/>
          <p:nvPr/>
        </p:nvSpPr>
        <p:spPr>
          <a:xfrm>
            <a:off x="7955279" y="2423160"/>
            <a:ext cx="3474720" cy="731520"/>
          </a:xfrm>
          <a:prstGeom prst="rect">
            <a:avLst/>
          </a:prstGeom>
          <a:noFill/>
          <a:ln>
            <a:noFill/>
          </a:ln>
        </p:spPr>
        <p:txBody>
          <a:bodyPr wrap="square">
            <a:spAutoFit/>
          </a:bodyPr>
          <a:lstStyle/>
          <a:p>
            <a:pPr algn="ctr"/>
            <a:r>
              <a:rPr sz="1200" b="1" i="0">
                <a:solidFill>
                  <a:srgbClr val="FFFFFF"/>
                </a:solidFill>
              </a:rPr>
              <a:t>Productivité automatisée</a:t>
            </a:r>
          </a:p>
        </p:txBody>
      </p:sp>
      <p:sp>
        <p:nvSpPr>
          <p:cNvPr id="19" name="TextBox 18"/>
          <p:cNvSpPr txBox="1"/>
          <p:nvPr/>
        </p:nvSpPr>
        <p:spPr>
          <a:xfrm>
            <a:off x="7955279" y="3840480"/>
            <a:ext cx="3474720" cy="1828800"/>
          </a:xfrm>
          <a:prstGeom prst="rect">
            <a:avLst/>
          </a:prstGeom>
          <a:noFill/>
          <a:ln>
            <a:noFill/>
          </a:ln>
        </p:spPr>
        <p:txBody>
          <a:bodyPr wrap="square">
            <a:spAutoFit/>
          </a:bodyPr>
          <a:lstStyle/>
          <a:p>
            <a:pPr algn="l"/>
            <a:r>
              <a:rPr sz="1000" b="0" i="0">
                <a:solidFill>
                  <a:srgbClr val="000000"/>
                </a:solidFill>
              </a:rPr>
              <a:t>Pack Office complet, Teams et outils Microsoft 365 pour gagner du temps au quotidien.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45720"/>
            <a:ext cx="731520" cy="320040"/>
          </a:xfrm>
          <a:prstGeom prst="rect">
            <a:avLst/>
          </a:prstGeom>
          <a:noFill/>
          <a:ln>
            <a:noFill/>
          </a:ln>
        </p:spPr>
        <p:txBody>
          <a:bodyPr wrap="square">
            <a:spAutoFit/>
          </a:bodyPr>
          <a:lstStyle/>
          <a:p>
            <a:pPr algn="l"/>
            <a:r>
              <a:rPr sz="900" b="0" i="0">
                <a:solidFill>
                  <a:srgbClr val="888888"/>
                </a:solidFill>
              </a:rPr>
              <a:t>5</a:t>
            </a:r>
          </a:p>
        </p:txBody>
      </p:sp>
      <p:sp>
        <p:nvSpPr>
          <p:cNvPr id="3" name="TextBox 2"/>
          <p:cNvSpPr txBox="1"/>
          <p:nvPr/>
        </p:nvSpPr>
        <p:spPr>
          <a:xfrm>
            <a:off x="4114800" y="45720"/>
            <a:ext cx="4114800" cy="320040"/>
          </a:xfrm>
          <a:prstGeom prst="rect">
            <a:avLst/>
          </a:prstGeom>
          <a:noFill/>
          <a:ln>
            <a:noFill/>
          </a:ln>
        </p:spPr>
        <p:txBody>
          <a:bodyPr wrap="square">
            <a:spAutoFit/>
          </a:bodyPr>
          <a:lstStyle/>
          <a:p>
            <a:pPr algn="ctr"/>
            <a:r>
              <a:rPr sz="900" b="0" i="0">
                <a:solidFill>
                  <a:srgbClr val="FF7900"/>
                </a:solidFill>
              </a:rPr>
              <a:t>Orange Restricted</a:t>
            </a:r>
          </a:p>
        </p:txBody>
      </p:sp>
      <p:sp>
        <p:nvSpPr>
          <p:cNvPr id="4" name="Rectangle 3"/>
          <p:cNvSpPr/>
          <p:nvPr/>
        </p:nvSpPr>
        <p:spPr>
          <a:xfrm>
            <a:off x="0" y="41148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a:ln>
            <a:noFill/>
          </a:ln>
        </p:spPr>
        <p:txBody>
          <a:bodyPr wrap="square">
            <a:spAutoFit/>
          </a:bodyPr>
          <a:lstStyle/>
          <a:p>
            <a:pPr algn="ctr"/>
            <a:r>
              <a:rPr sz="800" b="0" i="0">
                <a:solidFill>
                  <a:srgbClr val="FF7900"/>
                </a:solidFill>
              </a:rPr>
              <a:t>Orange Restricted</a:t>
            </a:r>
          </a:p>
        </p:txBody>
      </p:sp>
      <p:sp>
        <p:nvSpPr>
          <p:cNvPr id="6" name="TextBox 5"/>
          <p:cNvSpPr txBox="1"/>
          <p:nvPr/>
        </p:nvSpPr>
        <p:spPr>
          <a:xfrm>
            <a:off x="457200" y="1188720"/>
            <a:ext cx="5943600" cy="457200"/>
          </a:xfrm>
          <a:prstGeom prst="rect">
            <a:avLst/>
          </a:prstGeom>
          <a:noFill/>
          <a:ln>
            <a:noFill/>
          </a:ln>
        </p:spPr>
        <p:txBody>
          <a:bodyPr wrap="square">
            <a:spAutoFit/>
          </a:bodyPr>
          <a:lstStyle/>
          <a:p>
            <a:pPr algn="l"/>
            <a:r>
              <a:rPr sz="1500" b="1" i="0">
                <a:solidFill>
                  <a:srgbClr val="FF7900"/>
                </a:solidFill>
              </a:rPr>
              <a:t>Cas d'usage client</a:t>
            </a:r>
          </a:p>
        </p:txBody>
      </p:sp>
      <p:sp>
        <p:nvSpPr>
          <p:cNvPr id="7" name="TextBox 6"/>
          <p:cNvSpPr txBox="1"/>
          <p:nvPr/>
        </p:nvSpPr>
        <p:spPr>
          <a:xfrm>
            <a:off x="457200" y="2011680"/>
            <a:ext cx="5943600" cy="3200400"/>
          </a:xfrm>
          <a:prstGeom prst="rect">
            <a:avLst/>
          </a:prstGeom>
          <a:noFill/>
          <a:ln>
            <a:noFill/>
          </a:ln>
        </p:spPr>
        <p:txBody>
          <a:bodyPr wrap="square">
            <a:spAutoFit/>
          </a:bodyPr>
          <a:lstStyle/>
          <a:p>
            <a:pPr algn="l"/>
            <a:r>
              <a:rPr sz="1300" b="1" i="0">
                <a:solidFill>
                  <a:srgbClr val="000000"/>
                </a:solidFill>
              </a:rPr>
              <a:t>Par exemple, une banque similaire à BIAT a pu augmenter sa productivité de 25% en utilisant notre solution de fibre et de Microsoft 365, tout en réduisant ses coûts de maintenance de 15%. Nous sommes convaincus que BIAT peut également bénéficier de ces avantages</a:t>
            </a:r>
          </a:p>
        </p:txBody>
      </p:sp>
      <p:sp>
        <p:nvSpPr>
          <p:cNvPr id="8" name="Rectangle 7"/>
          <p:cNvSpPr/>
          <p:nvPr/>
        </p:nvSpPr>
        <p:spPr>
          <a:xfrm>
            <a:off x="6675120" y="822960"/>
            <a:ext cx="27432" cy="53035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t the office-rafiki.png"/>
          <p:cNvPicPr>
            <a:picLocks noChangeAspect="1"/>
          </p:cNvPicPr>
          <p:nvPr/>
        </p:nvPicPr>
        <p:blipFill>
          <a:blip r:embed="rId2"/>
          <a:stretch>
            <a:fillRect/>
          </a:stretch>
        </p:blipFill>
        <p:spPr>
          <a:xfrm>
            <a:off x="6858000" y="822960"/>
            <a:ext cx="5029200" cy="5303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45720"/>
            <a:ext cx="731520" cy="320040"/>
          </a:xfrm>
          <a:prstGeom prst="rect">
            <a:avLst/>
          </a:prstGeom>
          <a:noFill/>
          <a:ln>
            <a:noFill/>
          </a:ln>
        </p:spPr>
        <p:txBody>
          <a:bodyPr wrap="square">
            <a:spAutoFit/>
          </a:bodyPr>
          <a:lstStyle/>
          <a:p>
            <a:pPr algn="l"/>
            <a:r>
              <a:rPr sz="900" b="0" i="0">
                <a:solidFill>
                  <a:srgbClr val="888888"/>
                </a:solidFill>
              </a:rPr>
              <a:t>6</a:t>
            </a:r>
          </a:p>
        </p:txBody>
      </p:sp>
      <p:sp>
        <p:nvSpPr>
          <p:cNvPr id="3" name="TextBox 2"/>
          <p:cNvSpPr txBox="1"/>
          <p:nvPr/>
        </p:nvSpPr>
        <p:spPr>
          <a:xfrm>
            <a:off x="4114800" y="45720"/>
            <a:ext cx="4114800" cy="320040"/>
          </a:xfrm>
          <a:prstGeom prst="rect">
            <a:avLst/>
          </a:prstGeom>
          <a:noFill/>
          <a:ln>
            <a:noFill/>
          </a:ln>
        </p:spPr>
        <p:txBody>
          <a:bodyPr wrap="square">
            <a:spAutoFit/>
          </a:bodyPr>
          <a:lstStyle/>
          <a:p>
            <a:pPr algn="ctr"/>
            <a:r>
              <a:rPr sz="900" b="0" i="0">
                <a:solidFill>
                  <a:srgbClr val="FF7900"/>
                </a:solidFill>
              </a:rPr>
              <a:t>Orange Restricted</a:t>
            </a:r>
          </a:p>
        </p:txBody>
      </p:sp>
      <p:sp>
        <p:nvSpPr>
          <p:cNvPr id="4" name="Rectangle 3"/>
          <p:cNvSpPr/>
          <p:nvPr/>
        </p:nvSpPr>
        <p:spPr>
          <a:xfrm>
            <a:off x="0" y="41148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a:ln>
            <a:noFill/>
          </a:ln>
        </p:spPr>
        <p:txBody>
          <a:bodyPr wrap="square">
            <a:spAutoFit/>
          </a:bodyPr>
          <a:lstStyle/>
          <a:p>
            <a:pPr algn="ctr"/>
            <a:r>
              <a:rPr sz="800" b="0" i="0">
                <a:solidFill>
                  <a:srgbClr val="FF7900"/>
                </a:solidFill>
              </a:rPr>
              <a:t>Orange Restricted</a:t>
            </a:r>
          </a:p>
        </p:txBody>
      </p:sp>
      <p:sp>
        <p:nvSpPr>
          <p:cNvPr id="6" name="TextBox 5"/>
          <p:cNvSpPr txBox="1"/>
          <p:nvPr/>
        </p:nvSpPr>
        <p:spPr>
          <a:xfrm>
            <a:off x="457200" y="1188720"/>
            <a:ext cx="10972800" cy="457200"/>
          </a:xfrm>
          <a:prstGeom prst="rect">
            <a:avLst/>
          </a:prstGeom>
          <a:noFill/>
          <a:ln>
            <a:noFill/>
          </a:ln>
        </p:spPr>
        <p:txBody>
          <a:bodyPr wrap="square">
            <a:spAutoFit/>
          </a:bodyPr>
          <a:lstStyle/>
          <a:p>
            <a:pPr algn="l"/>
            <a:r>
              <a:rPr sz="1500" b="1" i="0">
                <a:solidFill>
                  <a:srgbClr val="FF7900"/>
                </a:solidFill>
              </a:rPr>
              <a:t>Sécurité et conformité</a:t>
            </a:r>
          </a:p>
        </p:txBody>
      </p:sp>
      <p:sp>
        <p:nvSpPr>
          <p:cNvPr id="7" name="TextBox 6"/>
          <p:cNvSpPr txBox="1"/>
          <p:nvPr/>
        </p:nvSpPr>
        <p:spPr>
          <a:xfrm>
            <a:off x="457200" y="1645920"/>
            <a:ext cx="10972800" cy="457200"/>
          </a:xfrm>
          <a:prstGeom prst="rect">
            <a:avLst/>
          </a:prstGeom>
          <a:noFill/>
          <a:ln>
            <a:noFill/>
          </a:ln>
        </p:spPr>
        <p:txBody>
          <a:bodyPr wrap="square">
            <a:spAutoFit/>
          </a:bodyPr>
          <a:lstStyle/>
          <a:p>
            <a:pPr algn="l"/>
            <a:r>
              <a:rPr sz="1400" b="1" i="0">
                <a:solidFill>
                  <a:srgbClr val="000000"/>
                </a:solidFill>
              </a:rPr>
              <a:t>Vos données protégées au quotidien</a:t>
            </a:r>
          </a:p>
        </p:txBody>
      </p:sp>
      <p:sp>
        <p:nvSpPr>
          <p:cNvPr id="8" name="TextBox 7"/>
          <p:cNvSpPr txBox="1"/>
          <p:nvPr/>
        </p:nvSpPr>
        <p:spPr>
          <a:xfrm>
            <a:off x="457200" y="2377440"/>
            <a:ext cx="5303520" cy="3200400"/>
          </a:xfrm>
          <a:prstGeom prst="rect">
            <a:avLst/>
          </a:prstGeom>
          <a:noFill/>
          <a:ln>
            <a:noFill/>
          </a:ln>
        </p:spPr>
        <p:txBody>
          <a:bodyPr wrap="square">
            <a:spAutoFit/>
          </a:bodyPr>
          <a:lstStyle/>
          <a:p>
            <a:pPr algn="l"/>
            <a:r>
              <a:rPr sz="1200" b="1" i="0">
                <a:solidFill>
                  <a:srgbClr val="000000"/>
                </a:solidFill>
              </a:rPr>
              <a:t>Orange garantit à BIAT une sécurité de niveau bancaire pour ses données et ses communications, avec des mesures de protection avancées telles que la cryptographie et la détection des menaces.</a:t>
            </a:r>
          </a:p>
        </p:txBody>
      </p:sp>
      <p:sp>
        <p:nvSpPr>
          <p:cNvPr id="9" name="TextBox 8"/>
          <p:cNvSpPr txBox="1"/>
          <p:nvPr/>
        </p:nvSpPr>
        <p:spPr>
          <a:xfrm>
            <a:off x="6400800" y="2377440"/>
            <a:ext cx="5303520" cy="3200400"/>
          </a:xfrm>
          <a:prstGeom prst="rect">
            <a:avLst/>
          </a:prstGeom>
          <a:noFill/>
          <a:ln>
            <a:noFill/>
          </a:ln>
        </p:spPr>
        <p:txBody>
          <a:bodyPr wrap="square">
            <a:spAutoFit/>
          </a:bodyPr>
          <a:lstStyle/>
          <a:p>
            <a:pPr algn="l"/>
            <a:r>
              <a:rPr sz="1200" b="1" i="0">
                <a:solidFill>
                  <a:srgbClr val="000000"/>
                </a:solidFill>
              </a:rPr>
              <a:t>Notre infrastructure est conçue pour répondre aux normes de sécurité les plus élevées du secteur bancaire.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45720"/>
            <a:ext cx="731520" cy="320040"/>
          </a:xfrm>
          <a:prstGeom prst="rect">
            <a:avLst/>
          </a:prstGeom>
          <a:noFill/>
          <a:ln>
            <a:noFill/>
          </a:ln>
        </p:spPr>
        <p:txBody>
          <a:bodyPr wrap="square">
            <a:spAutoFit/>
          </a:bodyPr>
          <a:lstStyle/>
          <a:p>
            <a:pPr algn="l"/>
            <a:r>
              <a:rPr sz="900" b="0" i="0">
                <a:solidFill>
                  <a:srgbClr val="888888"/>
                </a:solidFill>
              </a:rPr>
              <a:t>7</a:t>
            </a:r>
          </a:p>
        </p:txBody>
      </p:sp>
      <p:sp>
        <p:nvSpPr>
          <p:cNvPr id="3" name="TextBox 2"/>
          <p:cNvSpPr txBox="1"/>
          <p:nvPr/>
        </p:nvSpPr>
        <p:spPr>
          <a:xfrm>
            <a:off x="4114800" y="45720"/>
            <a:ext cx="4114800" cy="320040"/>
          </a:xfrm>
          <a:prstGeom prst="rect">
            <a:avLst/>
          </a:prstGeom>
          <a:noFill/>
          <a:ln>
            <a:noFill/>
          </a:ln>
        </p:spPr>
        <p:txBody>
          <a:bodyPr wrap="square">
            <a:spAutoFit/>
          </a:bodyPr>
          <a:lstStyle/>
          <a:p>
            <a:pPr algn="ctr"/>
            <a:r>
              <a:rPr sz="900" b="0" i="0">
                <a:solidFill>
                  <a:srgbClr val="FF7900"/>
                </a:solidFill>
              </a:rPr>
              <a:t>Orange Restricted</a:t>
            </a:r>
          </a:p>
        </p:txBody>
      </p:sp>
      <p:sp>
        <p:nvSpPr>
          <p:cNvPr id="4" name="Rectangle 3"/>
          <p:cNvSpPr/>
          <p:nvPr/>
        </p:nvSpPr>
        <p:spPr>
          <a:xfrm>
            <a:off x="0" y="41148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a:ln>
            <a:noFill/>
          </a:ln>
        </p:spPr>
        <p:txBody>
          <a:bodyPr wrap="square">
            <a:spAutoFit/>
          </a:bodyPr>
          <a:lstStyle/>
          <a:p>
            <a:pPr algn="ctr"/>
            <a:r>
              <a:rPr sz="800" b="0" i="0">
                <a:solidFill>
                  <a:srgbClr val="FF7900"/>
                </a:solidFill>
              </a:rPr>
              <a:t>Orange Restricted</a:t>
            </a:r>
          </a:p>
        </p:txBody>
      </p:sp>
      <p:sp>
        <p:nvSpPr>
          <p:cNvPr id="6" name="TextBox 5"/>
          <p:cNvSpPr txBox="1"/>
          <p:nvPr/>
        </p:nvSpPr>
        <p:spPr>
          <a:xfrm>
            <a:off x="457200" y="1188720"/>
            <a:ext cx="10972800" cy="457200"/>
          </a:xfrm>
          <a:prstGeom prst="rect">
            <a:avLst/>
          </a:prstGeom>
          <a:noFill/>
          <a:ln>
            <a:noFill/>
          </a:ln>
        </p:spPr>
        <p:txBody>
          <a:bodyPr wrap="square">
            <a:spAutoFit/>
          </a:bodyPr>
          <a:lstStyle/>
          <a:p>
            <a:pPr algn="l"/>
            <a:r>
              <a:rPr sz="1500" b="1" i="0">
                <a:solidFill>
                  <a:srgbClr val="FF7900"/>
                </a:solidFill>
              </a:rPr>
              <a:t>Accompagnement et support</a:t>
            </a:r>
          </a:p>
        </p:txBody>
      </p:sp>
      <p:sp>
        <p:nvSpPr>
          <p:cNvPr id="7" name="TextBox 6"/>
          <p:cNvSpPr txBox="1"/>
          <p:nvPr/>
        </p:nvSpPr>
        <p:spPr>
          <a:xfrm>
            <a:off x="457200" y="1645920"/>
            <a:ext cx="10972800" cy="457200"/>
          </a:xfrm>
          <a:prstGeom prst="rect">
            <a:avLst/>
          </a:prstGeom>
          <a:noFill/>
          <a:ln>
            <a:noFill/>
          </a:ln>
        </p:spPr>
        <p:txBody>
          <a:bodyPr wrap="square">
            <a:spAutoFit/>
          </a:bodyPr>
          <a:lstStyle/>
          <a:p>
            <a:pPr algn="l"/>
            <a:r>
              <a:rPr sz="1400" b="1" i="0">
                <a:solidFill>
                  <a:srgbClr val="000000"/>
                </a:solidFill>
              </a:rPr>
              <a:t>Un partenaire à vos côtés</a:t>
            </a:r>
          </a:p>
        </p:txBody>
      </p:sp>
      <p:sp>
        <p:nvSpPr>
          <p:cNvPr id="8" name="TextBox 7"/>
          <p:cNvSpPr txBox="1"/>
          <p:nvPr/>
        </p:nvSpPr>
        <p:spPr>
          <a:xfrm>
            <a:off x="457200" y="2468880"/>
            <a:ext cx="11247120" cy="685800"/>
          </a:xfrm>
          <a:prstGeom prst="rect">
            <a:avLst/>
          </a:prstGeom>
          <a:noFill/>
          <a:ln>
            <a:noFill/>
          </a:ln>
        </p:spPr>
        <p:txBody>
          <a:bodyPr wrap="square">
            <a:spAutoFit/>
          </a:bodyPr>
          <a:lstStyle/>
          <a:p>
            <a:pPr algn="l"/>
            <a:r>
              <a:rPr sz="1200" b="1" i="0">
                <a:solidFill>
                  <a:srgbClr val="000000"/>
                </a:solidFill>
              </a:rPr>
              <a:t>Orange s'engage à fournir à BIAT un support technique dédié pour garantir une transition en douceur vers notre solution</a:t>
            </a:r>
          </a:p>
        </p:txBody>
      </p:sp>
      <p:sp>
        <p:nvSpPr>
          <p:cNvPr id="9" name="TextBox 8"/>
          <p:cNvSpPr txBox="1"/>
          <p:nvPr/>
        </p:nvSpPr>
        <p:spPr>
          <a:xfrm>
            <a:off x="457200" y="3383280"/>
            <a:ext cx="11247120" cy="685800"/>
          </a:xfrm>
          <a:prstGeom prst="rect">
            <a:avLst/>
          </a:prstGeom>
          <a:noFill/>
          <a:ln>
            <a:noFill/>
          </a:ln>
        </p:spPr>
        <p:txBody>
          <a:bodyPr wrap="square">
            <a:spAutoFit/>
          </a:bodyPr>
          <a:lstStyle/>
          <a:p>
            <a:pPr algn="l"/>
            <a:r>
              <a:rPr sz="1200" b="1" i="0">
                <a:solidFill>
                  <a:srgbClr val="000000"/>
                </a:solidFill>
              </a:rPr>
              <a:t>Nous mettons à disposition de BIAT une équipe d'experts pour aider à configurer et à optimiser son infrastructure informatique</a:t>
            </a:r>
          </a:p>
        </p:txBody>
      </p:sp>
      <p:sp>
        <p:nvSpPr>
          <p:cNvPr id="10" name="TextBox 9"/>
          <p:cNvSpPr txBox="1"/>
          <p:nvPr/>
        </p:nvSpPr>
        <p:spPr>
          <a:xfrm>
            <a:off x="457200" y="4297680"/>
            <a:ext cx="11247120" cy="685800"/>
          </a:xfrm>
          <a:prstGeom prst="rect">
            <a:avLst/>
          </a:prstGeom>
          <a:noFill/>
          <a:ln>
            <a:noFill/>
          </a:ln>
        </p:spPr>
        <p:txBody>
          <a:bodyPr wrap="square">
            <a:spAutoFit/>
          </a:bodyPr>
          <a:lstStyle/>
          <a:p>
            <a:pPr algn="l"/>
            <a:r>
              <a:rPr sz="1200" b="1" i="0">
                <a:solidFill>
                  <a:srgbClr val="000000"/>
                </a:solidFill>
              </a:rPr>
              <a:t>Orange propose à BIAT des formations régulières pour aider ses équipes à maîtriser les outils et les fonctionnalités de notre solution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45720"/>
            <a:ext cx="731520" cy="320040"/>
          </a:xfrm>
          <a:prstGeom prst="rect">
            <a:avLst/>
          </a:prstGeom>
          <a:noFill/>
          <a:ln>
            <a:noFill/>
          </a:ln>
        </p:spPr>
        <p:txBody>
          <a:bodyPr wrap="square">
            <a:spAutoFit/>
          </a:bodyPr>
          <a:lstStyle/>
          <a:p>
            <a:pPr algn="l"/>
            <a:r>
              <a:rPr sz="900" b="0" i="0">
                <a:solidFill>
                  <a:srgbClr val="888888"/>
                </a:solidFill>
              </a:rPr>
              <a:t>8</a:t>
            </a:r>
          </a:p>
        </p:txBody>
      </p:sp>
      <p:sp>
        <p:nvSpPr>
          <p:cNvPr id="3" name="TextBox 2"/>
          <p:cNvSpPr txBox="1"/>
          <p:nvPr/>
        </p:nvSpPr>
        <p:spPr>
          <a:xfrm>
            <a:off x="4114800" y="45720"/>
            <a:ext cx="4114800" cy="320040"/>
          </a:xfrm>
          <a:prstGeom prst="rect">
            <a:avLst/>
          </a:prstGeom>
          <a:noFill/>
          <a:ln>
            <a:noFill/>
          </a:ln>
        </p:spPr>
        <p:txBody>
          <a:bodyPr wrap="square">
            <a:spAutoFit/>
          </a:bodyPr>
          <a:lstStyle/>
          <a:p>
            <a:pPr algn="ctr"/>
            <a:r>
              <a:rPr sz="900" b="0" i="0">
                <a:solidFill>
                  <a:srgbClr val="FF7900"/>
                </a:solidFill>
              </a:rPr>
              <a:t>Orange Restricted</a:t>
            </a:r>
          </a:p>
        </p:txBody>
      </p:sp>
      <p:sp>
        <p:nvSpPr>
          <p:cNvPr id="4" name="Rectangle 3"/>
          <p:cNvSpPr/>
          <p:nvPr/>
        </p:nvSpPr>
        <p:spPr>
          <a:xfrm>
            <a:off x="0" y="411480"/>
            <a:ext cx="1218895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6537960"/>
            <a:ext cx="4114800" cy="274320"/>
          </a:xfrm>
          <a:prstGeom prst="rect">
            <a:avLst/>
          </a:prstGeom>
          <a:noFill/>
          <a:ln>
            <a:noFill/>
          </a:ln>
        </p:spPr>
        <p:txBody>
          <a:bodyPr wrap="square">
            <a:spAutoFit/>
          </a:bodyPr>
          <a:lstStyle/>
          <a:p>
            <a:pPr algn="ctr"/>
            <a:r>
              <a:rPr sz="800" b="0" i="0">
                <a:solidFill>
                  <a:srgbClr val="FF7900"/>
                </a:solidFill>
              </a:rPr>
              <a:t>Orange Restricted</a:t>
            </a:r>
          </a:p>
        </p:txBody>
      </p:sp>
      <p:sp>
        <p:nvSpPr>
          <p:cNvPr id="6" name="TextBox 5"/>
          <p:cNvSpPr txBox="1"/>
          <p:nvPr/>
        </p:nvSpPr>
        <p:spPr>
          <a:xfrm>
            <a:off x="457200" y="1188720"/>
            <a:ext cx="10972800" cy="457200"/>
          </a:xfrm>
          <a:prstGeom prst="rect">
            <a:avLst/>
          </a:prstGeom>
          <a:noFill/>
          <a:ln>
            <a:noFill/>
          </a:ln>
        </p:spPr>
        <p:txBody>
          <a:bodyPr wrap="square">
            <a:spAutoFit/>
          </a:bodyPr>
          <a:lstStyle/>
          <a:p>
            <a:pPr algn="l"/>
            <a:r>
              <a:rPr sz="1500" b="1" i="0">
                <a:solidFill>
                  <a:srgbClr val="FF7900"/>
                </a:solidFill>
              </a:rPr>
              <a:t>Tarification et devis</a:t>
            </a:r>
          </a:p>
        </p:txBody>
      </p:sp>
      <p:sp>
        <p:nvSpPr>
          <p:cNvPr id="7" name="TextBox 6"/>
          <p:cNvSpPr txBox="1"/>
          <p:nvPr/>
        </p:nvSpPr>
        <p:spPr>
          <a:xfrm>
            <a:off x="457200" y="1645920"/>
            <a:ext cx="10972800" cy="457200"/>
          </a:xfrm>
          <a:prstGeom prst="rect">
            <a:avLst/>
          </a:prstGeom>
          <a:noFill/>
          <a:ln>
            <a:noFill/>
          </a:ln>
        </p:spPr>
        <p:txBody>
          <a:bodyPr wrap="square">
            <a:spAutoFit/>
          </a:bodyPr>
          <a:lstStyle/>
          <a:p>
            <a:pPr algn="l"/>
            <a:r>
              <a:rPr sz="1400" b="1" i="0">
                <a:solidFill>
                  <a:srgbClr val="000000"/>
                </a:solidFill>
              </a:rPr>
              <a:t>Détail des licences et coûts</a:t>
            </a:r>
          </a:p>
        </p:txBody>
      </p:sp>
      <p:graphicFrame>
        <p:nvGraphicFramePr>
          <p:cNvPr id="8" name="Table 7"/>
          <p:cNvGraphicFramePr>
            <a:graphicFrameLocks noGrp="1"/>
          </p:cNvGraphicFramePr>
          <p:nvPr/>
        </p:nvGraphicFramePr>
        <p:xfrm>
          <a:off x="457200" y="2286000"/>
          <a:ext cx="11247118" cy="2194560"/>
        </p:xfrm>
        <a:graphic>
          <a:graphicData uri="http://schemas.openxmlformats.org/drawingml/2006/table">
            <a:tbl>
              <a:tblPr firstRow="1" bandRow="1">
                <a:tableStyleId>{5C22544A-7EE6-4342-B048-85BDC9FD1C3A}</a:tableStyleId>
              </a:tblPr>
              <a:tblGrid>
                <a:gridCol w="4498848"/>
                <a:gridCol w="1574596"/>
                <a:gridCol w="2699308"/>
                <a:gridCol w="2474366"/>
              </a:tblGrid>
              <a:tr h="548640">
                <a:tc>
                  <a:txBody>
                    <a:bodyPr/>
                    <a:lstStyle/>
                    <a:p>
                      <a:pPr algn="ctr"/>
                      <a:r>
                        <a:rPr b="1" sz="1100">
                          <a:solidFill>
                            <a:srgbClr val="FFFFFF"/>
                          </a:solidFill>
                        </a:rPr>
                        <a:t>Licence / Offre</a:t>
                      </a:r>
                    </a:p>
                  </a:txBody>
                  <a:tcPr>
                    <a:solidFill>
                      <a:srgbClr val="FF7900"/>
                    </a:solidFill>
                  </a:tcPr>
                </a:tc>
                <a:tc>
                  <a:txBody>
                    <a:bodyPr/>
                    <a:lstStyle/>
                    <a:p>
                      <a:pPr algn="ctr"/>
                      <a:r>
                        <a:rPr b="1" sz="1100">
                          <a:solidFill>
                            <a:srgbClr val="FFFFFF"/>
                          </a:solidFill>
                        </a:rPr>
                        <a:t>Quantité</a:t>
                      </a:r>
                    </a:p>
                  </a:txBody>
                  <a:tcPr>
                    <a:solidFill>
                      <a:srgbClr val="FF7900"/>
                    </a:solidFill>
                  </a:tcPr>
                </a:tc>
                <a:tc>
                  <a:txBody>
                    <a:bodyPr/>
                    <a:lstStyle/>
                    <a:p>
                      <a:pPr algn="ctr"/>
                      <a:r>
                        <a:rPr b="1" sz="1100">
                          <a:solidFill>
                            <a:srgbClr val="FFFFFF"/>
                          </a:solidFill>
                        </a:rPr>
                        <a:t>Prix unitaire</a:t>
                      </a:r>
                    </a:p>
                  </a:txBody>
                  <a:tcPr>
                    <a:solidFill>
                      <a:srgbClr val="FF7900"/>
                    </a:solidFill>
                  </a:tcPr>
                </a:tc>
                <a:tc>
                  <a:txBody>
                    <a:bodyPr/>
                    <a:lstStyle/>
                    <a:p>
                      <a:pPr algn="ctr"/>
                      <a:r>
                        <a:rPr b="1" sz="1100">
                          <a:solidFill>
                            <a:srgbClr val="FFFFFF"/>
                          </a:solidFill>
                        </a:rPr>
                        <a:t>Prix total (TND/an)</a:t>
                      </a:r>
                    </a:p>
                  </a:txBody>
                  <a:tcPr>
                    <a:solidFill>
                      <a:srgbClr val="FF7900"/>
                    </a:solidFill>
                  </a:tcPr>
                </a:tc>
              </a:tr>
              <a:tr h="548640">
                <a:tc>
                  <a:txBody>
                    <a:bodyPr/>
                    <a:lstStyle/>
                    <a:p>
                      <a:pPr algn="l"/>
                      <a:r>
                        <a:rPr sz="1100" b="1">
                          <a:solidFill>
                            <a:srgbClr val="000000"/>
                          </a:solidFill>
                        </a:rPr>
                        <a:t>Fibre Orange Business 200M</a:t>
                      </a:r>
                    </a:p>
                  </a:txBody>
                  <a:tcPr>
                    <a:solidFill>
                      <a:srgbClr val="FFFFFF"/>
                    </a:solidFill>
                  </a:tcPr>
                </a:tc>
                <a:tc>
                  <a:txBody>
                    <a:bodyPr/>
                    <a:lstStyle/>
                    <a:p>
                      <a:pPr algn="ctr"/>
                      <a:r>
                        <a:rPr sz="1100" b="0">
                          <a:solidFill>
                            <a:srgbClr val="000000"/>
                          </a:solidFill>
                        </a:rPr>
                        <a:t>1</a:t>
                      </a:r>
                    </a:p>
                  </a:txBody>
                  <a:tcPr>
                    <a:solidFill>
                      <a:srgbClr val="FFFFFF"/>
                    </a:solidFill>
                  </a:tcPr>
                </a:tc>
                <a:tc>
                  <a:txBody>
                    <a:bodyPr/>
                    <a:lstStyle/>
                    <a:p>
                      <a:pPr algn="ctr"/>
                      <a:r>
                        <a:rPr sz="1100" b="0">
                          <a:solidFill>
                            <a:srgbClr val="000000"/>
                          </a:solidFill>
                        </a:rPr>
                        <a:t>2000.00 TND/mois</a:t>
                      </a:r>
                    </a:p>
                  </a:txBody>
                  <a:tcPr>
                    <a:solidFill>
                      <a:srgbClr val="FFFFFF"/>
                    </a:solidFill>
                  </a:tcPr>
                </a:tc>
                <a:tc>
                  <a:txBody>
                    <a:bodyPr/>
                    <a:lstStyle/>
                    <a:p>
                      <a:pPr algn="ctr"/>
                      <a:r>
                        <a:rPr sz="1100" b="0">
                          <a:solidFill>
                            <a:srgbClr val="000000"/>
                          </a:solidFill>
                        </a:rPr>
                        <a:t>24,000.00</a:t>
                      </a:r>
                    </a:p>
                  </a:txBody>
                  <a:tcPr>
                    <a:solidFill>
                      <a:srgbClr val="FFFFFF"/>
                    </a:solidFill>
                  </a:tcPr>
                </a:tc>
              </a:tr>
              <a:tr h="548640">
                <a:tc>
                  <a:txBody>
                    <a:bodyPr/>
                    <a:lstStyle/>
                    <a:p>
                      <a:pPr algn="l"/>
                      <a:r>
                        <a:rPr sz="1100" b="1">
                          <a:solidFill>
                            <a:srgbClr val="000000"/>
                          </a:solidFill>
                        </a:rPr>
                        <a:t>Microsoft 365 Business Basic</a:t>
                      </a:r>
                    </a:p>
                  </a:txBody>
                  <a:tcPr>
                    <a:solidFill>
                      <a:srgbClr val="FFCCAA"/>
                    </a:solidFill>
                  </a:tcPr>
                </a:tc>
                <a:tc>
                  <a:txBody>
                    <a:bodyPr/>
                    <a:lstStyle/>
                    <a:p>
                      <a:pPr algn="ctr"/>
                      <a:r>
                        <a:rPr sz="1100" b="0">
                          <a:solidFill>
                            <a:srgbClr val="000000"/>
                          </a:solidFill>
                        </a:rPr>
                        <a:t>15</a:t>
                      </a:r>
                    </a:p>
                  </a:txBody>
                  <a:tcPr>
                    <a:solidFill>
                      <a:srgbClr val="FFCCAA"/>
                    </a:solidFill>
                  </a:tcPr>
                </a:tc>
                <a:tc>
                  <a:txBody>
                    <a:bodyPr/>
                    <a:lstStyle/>
                    <a:p>
                      <a:pPr algn="ctr"/>
                      <a:r>
                        <a:rPr sz="1100" b="0">
                          <a:solidFill>
                            <a:srgbClr val="000000"/>
                          </a:solidFill>
                        </a:rPr>
                        <a:t>95.21 TND/an/licence</a:t>
                      </a:r>
                    </a:p>
                  </a:txBody>
                  <a:tcPr>
                    <a:solidFill>
                      <a:srgbClr val="FFCCAA"/>
                    </a:solidFill>
                  </a:tcPr>
                </a:tc>
                <a:tc>
                  <a:txBody>
                    <a:bodyPr/>
                    <a:lstStyle/>
                    <a:p>
                      <a:pPr algn="ctr"/>
                      <a:r>
                        <a:rPr sz="1100" b="0">
                          <a:solidFill>
                            <a:srgbClr val="000000"/>
                          </a:solidFill>
                        </a:rPr>
                        <a:t>1,428.15</a:t>
                      </a:r>
                    </a:p>
                  </a:txBody>
                  <a:tcPr>
                    <a:solidFill>
                      <a:srgbClr val="FFCCAA"/>
                    </a:solidFill>
                  </a:tcPr>
                </a:tc>
              </a:tr>
              <a:tr h="548640">
                <a:tc>
                  <a:txBody>
                    <a:bodyPr/>
                    <a:lstStyle/>
                    <a:p>
                      <a:pPr algn="l"/>
                      <a:r>
                        <a:rPr sz="1100" b="1">
                          <a:solidFill>
                            <a:srgbClr val="FFFFFF"/>
                          </a:solidFill>
                        </a:rPr>
                        <a:t>TOTAL ANNUEL</a:t>
                      </a:r>
                    </a:p>
                  </a:txBody>
                  <a:tcPr>
                    <a:solidFill>
                      <a:srgbClr val="FF7900"/>
                    </a:solidFill>
                  </a:tcPr>
                </a:tc>
                <a:tc>
                  <a:txBody>
                    <a:bodyPr/>
                    <a:lstStyle/>
                    <a:p>
                      <a:pPr algn="ctr"/>
                      <a:r>
                        <a:rPr sz="1100" b="1">
                          <a:solidFill>
                            <a:srgbClr val="FFFFFF"/>
                          </a:solidFill>
                        </a:rPr>
                        <a:t/>
                      </a:r>
                    </a:p>
                  </a:txBody>
                  <a:tcPr>
                    <a:solidFill>
                      <a:srgbClr val="FF7900"/>
                    </a:solidFill>
                  </a:tcPr>
                </a:tc>
                <a:tc>
                  <a:txBody>
                    <a:bodyPr/>
                    <a:lstStyle/>
                    <a:p>
                      <a:pPr algn="ctr"/>
                      <a:r>
                        <a:rPr sz="1100" b="1">
                          <a:solidFill>
                            <a:srgbClr val="FFFFFF"/>
                          </a:solidFill>
                        </a:rPr>
                        <a:t/>
                      </a:r>
                    </a:p>
                  </a:txBody>
                  <a:tcPr>
                    <a:solidFill>
                      <a:srgbClr val="FF7900"/>
                    </a:solidFill>
                  </a:tcPr>
                </a:tc>
                <a:tc>
                  <a:txBody>
                    <a:bodyPr/>
                    <a:lstStyle/>
                    <a:p>
                      <a:pPr algn="ctr"/>
                      <a:r>
                        <a:rPr sz="1100" b="1">
                          <a:solidFill>
                            <a:srgbClr val="FFFFFF"/>
                          </a:solidFill>
                        </a:rPr>
                        <a:t>25,428.15</a:t>
                      </a:r>
                    </a:p>
                  </a:txBody>
                  <a:tcPr>
                    <a:solidFill>
                      <a:srgbClr val="FF7900"/>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0" y="6537960"/>
            <a:ext cx="4114800" cy="274320"/>
          </a:xfrm>
          <a:prstGeom prst="rect">
            <a:avLst/>
          </a:prstGeom>
          <a:noFill/>
          <a:ln>
            <a:noFill/>
          </a:ln>
        </p:spPr>
        <p:txBody>
          <a:bodyPr wrap="square">
            <a:spAutoFit/>
          </a:bodyPr>
          <a:lstStyle/>
          <a:p>
            <a:pPr algn="ctr"/>
            <a:r>
              <a:rPr sz="800" b="0" i="0">
                <a:solidFill>
                  <a:srgbClr val="FF7900"/>
                </a:solidFill>
              </a:rPr>
              <a:t>Orange Restricted</a:t>
            </a:r>
          </a:p>
        </p:txBody>
      </p:sp>
      <p:sp>
        <p:nvSpPr>
          <p:cNvPr id="3" name="TextBox 2"/>
          <p:cNvSpPr txBox="1"/>
          <p:nvPr/>
        </p:nvSpPr>
        <p:spPr>
          <a:xfrm>
            <a:off x="274320" y="6537960"/>
            <a:ext cx="731520" cy="274320"/>
          </a:xfrm>
          <a:prstGeom prst="rect">
            <a:avLst/>
          </a:prstGeom>
          <a:noFill/>
          <a:ln>
            <a:noFill/>
          </a:ln>
        </p:spPr>
        <p:txBody>
          <a:bodyPr wrap="square">
            <a:spAutoFit/>
          </a:bodyPr>
          <a:lstStyle/>
          <a:p>
            <a:pPr algn="l"/>
            <a:r>
              <a:rPr sz="800" b="0" i="0">
                <a:solidFill>
                  <a:srgbClr val="888888"/>
                </a:solidFill>
              </a:rPr>
              <a:t>9</a:t>
            </a:r>
          </a:p>
        </p:txBody>
      </p:sp>
      <p:sp>
        <p:nvSpPr>
          <p:cNvPr id="4" name="TextBox 3"/>
          <p:cNvSpPr txBox="1"/>
          <p:nvPr/>
        </p:nvSpPr>
        <p:spPr>
          <a:xfrm>
            <a:off x="457200" y="1097280"/>
            <a:ext cx="6858000" cy="1645920"/>
          </a:xfrm>
          <a:prstGeom prst="rect">
            <a:avLst/>
          </a:prstGeom>
          <a:noFill/>
          <a:ln>
            <a:noFill/>
          </a:ln>
        </p:spPr>
        <p:txBody>
          <a:bodyPr wrap="square">
            <a:spAutoFit/>
          </a:bodyPr>
          <a:lstStyle/>
          <a:p>
            <a:pPr algn="l"/>
            <a:r>
              <a:rPr sz="5400" b="1" i="0">
                <a:solidFill>
                  <a:srgbClr val="FF7900"/>
                </a:solidFill>
              </a:rPr>
              <a:t>Merci !</a:t>
            </a:r>
          </a:p>
        </p:txBody>
      </p:sp>
      <p:sp>
        <p:nvSpPr>
          <p:cNvPr id="5" name="TextBox 4"/>
          <p:cNvSpPr txBox="1"/>
          <p:nvPr/>
        </p:nvSpPr>
        <p:spPr>
          <a:xfrm>
            <a:off x="457200" y="2743200"/>
            <a:ext cx="6858000" cy="731520"/>
          </a:xfrm>
          <a:prstGeom prst="rect">
            <a:avLst/>
          </a:prstGeom>
          <a:noFill/>
          <a:ln>
            <a:noFill/>
          </a:ln>
        </p:spPr>
        <p:txBody>
          <a:bodyPr wrap="square">
            <a:spAutoFit/>
          </a:bodyPr>
          <a:lstStyle/>
          <a:p>
            <a:pPr algn="l"/>
            <a:r>
              <a:rPr sz="2200" b="1" i="0">
                <a:solidFill>
                  <a:srgbClr val="000000"/>
                </a:solidFill>
              </a:rPr>
              <a:t>Contact et prochaines étapes</a:t>
            </a:r>
          </a:p>
        </p:txBody>
      </p:sp>
      <p:sp>
        <p:nvSpPr>
          <p:cNvPr id="6" name="TextBox 5"/>
          <p:cNvSpPr txBox="1"/>
          <p:nvPr/>
        </p:nvSpPr>
        <p:spPr>
          <a:xfrm>
            <a:off x="457200" y="3657600"/>
            <a:ext cx="6858000" cy="1371600"/>
          </a:xfrm>
          <a:prstGeom prst="rect">
            <a:avLst/>
          </a:prstGeom>
          <a:noFill/>
          <a:ln>
            <a:noFill/>
          </a:ln>
        </p:spPr>
        <p:txBody>
          <a:bodyPr wrap="square">
            <a:spAutoFit/>
          </a:bodyPr>
          <a:lstStyle/>
          <a:p>
            <a:pPr algn="l"/>
            <a:r>
              <a:rPr sz="1200" b="0" i="0">
                <a:solidFill>
                  <a:srgbClr val="000000"/>
                </a:solidFill>
              </a:rPr>
              <a:t>Nous sommes convaincus que notre offre de fibre et de Microsoft 365 Business Basic répond aux besoins spécifiques de BIAT et nous sommes impatients de collaborer avec vous pour améliorer votre productivité et votre sécurité</a:t>
            </a:r>
          </a:p>
        </p:txBody>
      </p:sp>
      <p:pic>
        <p:nvPicPr>
          <p:cNvPr id="7" name="Picture 6" descr="Company-rafiki.png"/>
          <p:cNvPicPr>
            <a:picLocks noChangeAspect="1"/>
          </p:cNvPicPr>
          <p:nvPr/>
        </p:nvPicPr>
        <p:blipFill>
          <a:blip r:embed="rId2"/>
          <a:stretch>
            <a:fillRect/>
          </a:stretch>
        </p:blipFill>
        <p:spPr>
          <a:xfrm>
            <a:off x="7589520" y="731520"/>
            <a:ext cx="4297680" cy="5486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
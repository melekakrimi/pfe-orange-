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0" y="274320"/>
            <a:ext cx="3200400" cy="365760"/>
          </a:xfrm>
          <a:prstGeom prst="rect">
            <a:avLst/>
          </a:prstGeom>
          <a:noFill/>
          <a:ln>
            <a:noFill/>
          </a:ln>
        </p:spPr>
        <p:txBody>
          <a:bodyPr wrap="square">
            <a:spAutoFit/>
          </a:bodyPr>
          <a:lstStyle/>
          <a:p>
            <a:pPr algn="r"/>
            <a:r>
              <a:rPr sz="1200" b="1" i="0">
                <a:solidFill>
                  <a:srgbClr val="FF7900"/>
                </a:solidFill>
                <a:latin typeface="Helvetica Neue"/>
              </a:rPr>
              <a:t>18 avril 2026</a:t>
            </a:r>
          </a:p>
        </p:txBody>
      </p:sp>
      <p:sp>
        <p:nvSpPr>
          <p:cNvPr id="3" name="TextBox 2"/>
          <p:cNvSpPr txBox="1"/>
          <p:nvPr/>
        </p:nvSpPr>
        <p:spPr>
          <a:xfrm>
            <a:off x="457200" y="914400"/>
            <a:ext cx="7772400" cy="2011680"/>
          </a:xfrm>
          <a:prstGeom prst="rect">
            <a:avLst/>
          </a:prstGeom>
          <a:noFill/>
          <a:ln>
            <a:noFill/>
          </a:ln>
        </p:spPr>
        <p:txBody>
          <a:bodyPr wrap="square">
            <a:spAutoFit/>
          </a:bodyPr>
          <a:lstStyle/>
          <a:p>
            <a:pPr algn="l"/>
            <a:r>
              <a:rPr sz="4000" b="1" i="0">
                <a:solidFill>
                  <a:srgbClr val="FF7900"/>
                </a:solidFill>
                <a:latin typeface="Helvetica Neue"/>
              </a:rPr>
              <a:t>Offre commerciale
Connectivité &amp; Cloud</a:t>
            </a:r>
          </a:p>
        </p:txBody>
      </p:sp>
      <p:sp>
        <p:nvSpPr>
          <p:cNvPr id="4" name="TextBox 3"/>
          <p:cNvSpPr txBox="1"/>
          <p:nvPr/>
        </p:nvSpPr>
        <p:spPr>
          <a:xfrm>
            <a:off x="457200" y="3017520"/>
            <a:ext cx="7772400" cy="822960"/>
          </a:xfrm>
          <a:prstGeom prst="rect">
            <a:avLst/>
          </a:prstGeom>
          <a:noFill/>
          <a:ln>
            <a:noFill/>
          </a:ln>
        </p:spPr>
        <p:txBody>
          <a:bodyPr wrap="square">
            <a:spAutoFit/>
          </a:bodyPr>
          <a:lstStyle/>
          <a:p>
            <a:pPr algn="l"/>
            <a:r>
              <a:rPr sz="1800" b="1" i="0">
                <a:solidFill>
                  <a:srgbClr val="000000"/>
                </a:solidFill>
                <a:latin typeface="Helvetica Neue"/>
              </a:rPr>
              <a:t>Fibre FTTO + Microsoft 365 pour BIAT</a:t>
            </a:r>
          </a:p>
        </p:txBody>
      </p:sp>
      <p:sp>
        <p:nvSpPr>
          <p:cNvPr id="5" name="Rectangle 4"/>
          <p:cNvSpPr/>
          <p:nvPr/>
        </p:nvSpPr>
        <p:spPr>
          <a:xfrm>
            <a:off x="0" y="6309360"/>
            <a:ext cx="12188952" cy="548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range logo.png"/>
          <p:cNvPicPr>
            <a:picLocks noChangeAspect="1"/>
          </p:cNvPicPr>
          <p:nvPr/>
        </p:nvPicPr>
        <p:blipFill>
          <a:blip r:embed="rId2"/>
          <a:stretch>
            <a:fillRect/>
          </a:stretch>
        </p:blipFill>
        <p:spPr>
          <a:xfrm>
            <a:off x="274320" y="5669280"/>
            <a:ext cx="1097280" cy="731520"/>
          </a:xfrm>
          <a:prstGeom prst="rect">
            <a:avLst/>
          </a:prstGeom>
        </p:spPr>
      </p:pic>
      <p:sp>
        <p:nvSpPr>
          <p:cNvPr id="7" name="TextBox 6"/>
          <p:cNvSpPr txBox="1"/>
          <p:nvPr/>
        </p:nvSpPr>
        <p:spPr>
          <a:xfrm>
            <a:off x="6400800" y="6355080"/>
            <a:ext cx="5486400" cy="411480"/>
          </a:xfrm>
          <a:prstGeom prst="rect">
            <a:avLst/>
          </a:prstGeom>
          <a:noFill/>
          <a:ln>
            <a:noFill/>
          </a:ln>
        </p:spPr>
        <p:txBody>
          <a:bodyPr wrap="square">
            <a:spAutoFit/>
          </a:bodyPr>
          <a:lstStyle/>
          <a:p>
            <a:pPr algn="r"/>
            <a:r>
              <a:rPr sz="800" b="0" i="0">
                <a:solidFill>
                  <a:srgbClr val="FFFFFF"/>
                </a:solidFill>
                <a:latin typeface="Helvetica Neue"/>
              </a:rPr>
              <a:t>Généré par IA avec l'outil Orange Business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3" name="TextBox 2"/>
          <p:cNvSpPr txBox="1"/>
          <p:nvPr/>
        </p:nvSpPr>
        <p:spPr>
          <a:xfrm>
            <a:off x="274320" y="6537960"/>
            <a:ext cx="731520" cy="274320"/>
          </a:xfrm>
          <a:prstGeom prst="rect">
            <a:avLst/>
          </a:prstGeom>
          <a:noFill/>
          <a:ln>
            <a:noFill/>
          </a:ln>
        </p:spPr>
        <p:txBody>
          <a:bodyPr wrap="square">
            <a:spAutoFit/>
          </a:bodyPr>
          <a:lstStyle/>
          <a:p>
            <a:pPr algn="l"/>
            <a:r>
              <a:rPr sz="800" b="0" i="0">
                <a:solidFill>
                  <a:srgbClr val="888888"/>
                </a:solidFill>
                <a:latin typeface="Helvetica Neue"/>
              </a:rPr>
              <a:t>2</a:t>
            </a:r>
          </a:p>
        </p:txBody>
      </p:sp>
      <p:sp>
        <p:nvSpPr>
          <p:cNvPr id="4" name="TextBox 3"/>
          <p:cNvSpPr txBox="1"/>
          <p:nvPr/>
        </p:nvSpPr>
        <p:spPr>
          <a:xfrm>
            <a:off x="457200" y="731520"/>
            <a:ext cx="6858000" cy="1828800"/>
          </a:xfrm>
          <a:prstGeom prst="rect">
            <a:avLst/>
          </a:prstGeom>
          <a:noFill/>
          <a:ln>
            <a:noFill/>
          </a:ln>
        </p:spPr>
        <p:txBody>
          <a:bodyPr wrap="square">
            <a:spAutoFit/>
          </a:bodyPr>
          <a:lstStyle/>
          <a:p>
            <a:pPr algn="l"/>
            <a:r>
              <a:rPr sz="3600" b="1" i="0">
                <a:solidFill>
                  <a:srgbClr val="000000"/>
                </a:solidFill>
                <a:latin typeface="Helvetica Neue"/>
              </a:rPr>
              <a:t>Pourquoi Connectivité &amp; Cloud ?</a:t>
            </a:r>
          </a:p>
        </p:txBody>
      </p:sp>
      <p:sp>
        <p:nvSpPr>
          <p:cNvPr id="5" name="TextBox 4"/>
          <p:cNvSpPr txBox="1"/>
          <p:nvPr/>
        </p:nvSpPr>
        <p:spPr>
          <a:xfrm>
            <a:off x="457200" y="2743200"/>
            <a:ext cx="6583680" cy="2743200"/>
          </a:xfrm>
          <a:prstGeom prst="rect">
            <a:avLst/>
          </a:prstGeom>
          <a:noFill/>
          <a:ln>
            <a:noFill/>
          </a:ln>
        </p:spPr>
        <p:txBody>
          <a:bodyPr wrap="square">
            <a:spAutoFit/>
          </a:bodyPr>
          <a:lstStyle/>
          <a:p>
            <a:pPr algn="l"/>
            <a:r>
              <a:rPr sz="1300" b="1" i="0">
                <a:solidFill>
                  <a:srgbClr val="000000"/>
                </a:solidFill>
                <a:latin typeface="Helvetica Neue"/>
              </a:rPr>
              <a:t>Notre offre de fibre 200 Mbps et de Microsoft 365 Business Basic est spécifiquement conçue pour répondre aux besoins de sécurité et de performance élevés de la banque BIAT. En effet, le secteur bancaire nécessite une infrastructure de réseau fiable et sécurisée pour protéger les données sensibles de ses clients. Notre solution est donc adaptée pour répondre à ces exigences.</a:t>
            </a:r>
          </a:p>
        </p:txBody>
      </p:sp>
      <p:pic>
        <p:nvPicPr>
          <p:cNvPr id="6" name="Picture 5" descr="Shared goals-rafiki.png"/>
          <p:cNvPicPr>
            <a:picLocks noChangeAspect="1"/>
          </p:cNvPicPr>
          <p:nvPr/>
        </p:nvPicPr>
        <p:blipFill>
          <a:blip r:embed="rId2"/>
          <a:stretch>
            <a:fillRect/>
          </a:stretch>
        </p:blipFill>
        <p:spPr>
          <a:xfrm>
            <a:off x="7132320" y="457200"/>
            <a:ext cx="4754880" cy="5486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latin typeface="Helvetica Neue"/>
              </a:rPr>
              <a:t>3</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latin typeface="Helvetica Neue"/>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latin typeface="Helvetica Neue"/>
              </a:rPr>
              <a:t>Les bénéfices pour votre entreprise</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500" b="1" i="0">
                <a:solidFill>
                  <a:srgbClr val="000000"/>
                </a:solidFill>
                <a:latin typeface="Helvetica Neue"/>
              </a:rPr>
              <a:t>Productivité, mobilité et collaboration</a:t>
            </a:r>
          </a:p>
        </p:txBody>
      </p:sp>
      <p:sp>
        <p:nvSpPr>
          <p:cNvPr id="8" name="TextBox 7"/>
          <p:cNvSpPr txBox="1"/>
          <p:nvPr/>
        </p:nvSpPr>
        <p:spPr>
          <a:xfrm>
            <a:off x="457200" y="2377440"/>
            <a:ext cx="11247120" cy="685800"/>
          </a:xfrm>
          <a:prstGeom prst="rect">
            <a:avLst/>
          </a:prstGeom>
          <a:noFill/>
          <a:ln>
            <a:noFill/>
          </a:ln>
        </p:spPr>
        <p:txBody>
          <a:bodyPr wrap="square">
            <a:spAutoFit/>
          </a:bodyPr>
          <a:lstStyle/>
          <a:p>
            <a:pPr algn="l"/>
            <a:r>
              <a:rPr sz="1200" b="1" i="0">
                <a:solidFill>
                  <a:srgbClr val="000000"/>
                </a:solidFill>
                <a:latin typeface="Helvetica Neue"/>
              </a:rPr>
              <a:t>Améliorer la sécurité des données avec une infrastructure de réseau robuste et fiable</a:t>
            </a:r>
          </a:p>
        </p:txBody>
      </p:sp>
      <p:sp>
        <p:nvSpPr>
          <p:cNvPr id="9" name="TextBox 8"/>
          <p:cNvSpPr txBox="1"/>
          <p:nvPr/>
        </p:nvSpPr>
        <p:spPr>
          <a:xfrm>
            <a:off x="457200" y="3291840"/>
            <a:ext cx="11247120" cy="685800"/>
          </a:xfrm>
          <a:prstGeom prst="rect">
            <a:avLst/>
          </a:prstGeom>
          <a:noFill/>
          <a:ln>
            <a:noFill/>
          </a:ln>
        </p:spPr>
        <p:txBody>
          <a:bodyPr wrap="square">
            <a:spAutoFit/>
          </a:bodyPr>
          <a:lstStyle/>
          <a:p>
            <a:pPr algn="l"/>
            <a:r>
              <a:rPr sz="1200" b="1" i="0">
                <a:solidFill>
                  <a:srgbClr val="000000"/>
                </a:solidFill>
                <a:latin typeface="Helvetica Neue"/>
              </a:rPr>
              <a:t>Optimiser la productivité des employés de la banque BIAT grâce à des outils de collaboration modernes</a:t>
            </a:r>
          </a:p>
        </p:txBody>
      </p:sp>
      <p:sp>
        <p:nvSpPr>
          <p:cNvPr id="10" name="TextBox 9"/>
          <p:cNvSpPr txBox="1"/>
          <p:nvPr/>
        </p:nvSpPr>
        <p:spPr>
          <a:xfrm>
            <a:off x="457200" y="4206240"/>
            <a:ext cx="11247120" cy="685800"/>
          </a:xfrm>
          <a:prstGeom prst="rect">
            <a:avLst/>
          </a:prstGeom>
          <a:noFill/>
          <a:ln>
            <a:noFill/>
          </a:ln>
        </p:spPr>
        <p:txBody>
          <a:bodyPr wrap="square">
            <a:spAutoFit/>
          </a:bodyPr>
          <a:lstStyle/>
          <a:p>
            <a:pPr algn="l"/>
            <a:r>
              <a:rPr sz="1200" b="1" i="0">
                <a:solidFill>
                  <a:srgbClr val="000000"/>
                </a:solidFill>
                <a:latin typeface="Helvetica Neue"/>
              </a:rPr>
              <a:t>Réduire les coûts IT en bénéficiant d'une solution tout-en-un avec une facturation simplifiée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latin typeface="Helvetica Neue"/>
              </a:rPr>
              <a:t>4</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latin typeface="Helvetica Neue"/>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latin typeface="Helvetica Neue"/>
              </a:rPr>
              <a:t>Fonctionnalités clés de votre solution</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latin typeface="Helvetica Neue"/>
              </a:rPr>
              <a:t>Des outils puissants pour votre quotidien</a:t>
            </a:r>
          </a:p>
        </p:txBody>
      </p:sp>
      <p:sp>
        <p:nvSpPr>
          <p:cNvPr id="8" name="Rectangle 7"/>
          <p:cNvSpPr/>
          <p:nvPr/>
        </p:nvSpPr>
        <p:spPr>
          <a:xfrm>
            <a:off x="457200" y="228600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llaboration.png"/>
          <p:cNvPicPr>
            <a:picLocks noChangeAspect="1"/>
          </p:cNvPicPr>
          <p:nvPr/>
        </p:nvPicPr>
        <p:blipFill>
          <a:blip r:embed="rId2"/>
          <a:stretch>
            <a:fillRect/>
          </a:stretch>
        </p:blipFill>
        <p:spPr>
          <a:xfrm>
            <a:off x="1874520" y="2377440"/>
            <a:ext cx="640080" cy="640080"/>
          </a:xfrm>
          <a:prstGeom prst="rect">
            <a:avLst/>
          </a:prstGeom>
        </p:spPr>
      </p:pic>
      <p:sp>
        <p:nvSpPr>
          <p:cNvPr id="10" name="TextBox 9"/>
          <p:cNvSpPr txBox="1"/>
          <p:nvPr/>
        </p:nvSpPr>
        <p:spPr>
          <a:xfrm>
            <a:off x="457200" y="2423160"/>
            <a:ext cx="3474720" cy="731520"/>
          </a:xfrm>
          <a:prstGeom prst="rect">
            <a:avLst/>
          </a:prstGeom>
          <a:noFill/>
          <a:ln>
            <a:noFill/>
          </a:ln>
        </p:spPr>
        <p:txBody>
          <a:bodyPr wrap="square">
            <a:spAutoFit/>
          </a:bodyPr>
          <a:lstStyle/>
          <a:p>
            <a:pPr algn="ctr"/>
            <a:r>
              <a:rPr sz="1200" b="1" i="0">
                <a:solidFill>
                  <a:srgbClr val="FFFFFF"/>
                </a:solidFill>
                <a:latin typeface="Helvetica Neue"/>
              </a:rPr>
              <a:t>Collaboration en temps réel</a:t>
            </a:r>
          </a:p>
        </p:txBody>
      </p:sp>
      <p:sp>
        <p:nvSpPr>
          <p:cNvPr id="11" name="TextBox 10"/>
          <p:cNvSpPr txBox="1"/>
          <p:nvPr/>
        </p:nvSpPr>
        <p:spPr>
          <a:xfrm>
            <a:off x="457200" y="3840480"/>
            <a:ext cx="3474720" cy="1828800"/>
          </a:xfrm>
          <a:prstGeom prst="rect">
            <a:avLst/>
          </a:prstGeom>
          <a:noFill/>
          <a:ln>
            <a:noFill/>
          </a:ln>
        </p:spPr>
        <p:txBody>
          <a:bodyPr wrap="square">
            <a:spAutoFit/>
          </a:bodyPr>
          <a:lstStyle/>
          <a:p>
            <a:pPr algn="l"/>
            <a:r>
              <a:rPr sz="1000" b="0" i="0">
                <a:solidFill>
                  <a:srgbClr val="000000"/>
                </a:solidFill>
                <a:latin typeface="Helvetica Neue"/>
              </a:rPr>
              <a:t>Travaillez ensemble sur vos documents avec OneDrive et SharePoint, même à distance.</a:t>
            </a:r>
          </a:p>
        </p:txBody>
      </p:sp>
      <p:sp>
        <p:nvSpPr>
          <p:cNvPr id="12" name="Rectangle 11"/>
          <p:cNvSpPr/>
          <p:nvPr/>
        </p:nvSpPr>
        <p:spPr>
          <a:xfrm>
            <a:off x="4206240" y="228600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martphone.png"/>
          <p:cNvPicPr>
            <a:picLocks noChangeAspect="1"/>
          </p:cNvPicPr>
          <p:nvPr/>
        </p:nvPicPr>
        <p:blipFill>
          <a:blip r:embed="rId3"/>
          <a:stretch>
            <a:fillRect/>
          </a:stretch>
        </p:blipFill>
        <p:spPr>
          <a:xfrm>
            <a:off x="5623560" y="2377440"/>
            <a:ext cx="640080" cy="640080"/>
          </a:xfrm>
          <a:prstGeom prst="rect">
            <a:avLst/>
          </a:prstGeom>
        </p:spPr>
      </p:pic>
      <p:sp>
        <p:nvSpPr>
          <p:cNvPr id="14" name="TextBox 13"/>
          <p:cNvSpPr txBox="1"/>
          <p:nvPr/>
        </p:nvSpPr>
        <p:spPr>
          <a:xfrm>
            <a:off x="4206240" y="2423160"/>
            <a:ext cx="3474720" cy="731520"/>
          </a:xfrm>
          <a:prstGeom prst="rect">
            <a:avLst/>
          </a:prstGeom>
          <a:noFill/>
          <a:ln>
            <a:noFill/>
          </a:ln>
        </p:spPr>
        <p:txBody>
          <a:bodyPr wrap="square">
            <a:spAutoFit/>
          </a:bodyPr>
          <a:lstStyle/>
          <a:p>
            <a:pPr algn="ctr"/>
            <a:r>
              <a:rPr sz="1200" b="1" i="0">
                <a:solidFill>
                  <a:srgbClr val="FFFFFF"/>
                </a:solidFill>
                <a:latin typeface="Helvetica Neue"/>
              </a:rPr>
              <a:t>Mobilité et accès sécurisé</a:t>
            </a:r>
          </a:p>
        </p:txBody>
      </p:sp>
      <p:sp>
        <p:nvSpPr>
          <p:cNvPr id="15" name="TextBox 14"/>
          <p:cNvSpPr txBox="1"/>
          <p:nvPr/>
        </p:nvSpPr>
        <p:spPr>
          <a:xfrm>
            <a:off x="4206240" y="3840480"/>
            <a:ext cx="3474720" cy="1828800"/>
          </a:xfrm>
          <a:prstGeom prst="rect">
            <a:avLst/>
          </a:prstGeom>
          <a:noFill/>
          <a:ln>
            <a:noFill/>
          </a:ln>
        </p:spPr>
        <p:txBody>
          <a:bodyPr wrap="square">
            <a:spAutoFit/>
          </a:bodyPr>
          <a:lstStyle/>
          <a:p>
            <a:pPr algn="l"/>
            <a:r>
              <a:rPr sz="1000" b="0" i="0">
                <a:solidFill>
                  <a:srgbClr val="000000"/>
                </a:solidFill>
                <a:latin typeface="Helvetica Neue"/>
              </a:rPr>
              <a:t>Fibre 200 Mbps garantis. Connexion dédiée FTTO pour votre entreprise.</a:t>
            </a:r>
          </a:p>
        </p:txBody>
      </p:sp>
      <p:sp>
        <p:nvSpPr>
          <p:cNvPr id="16" name="Rectangle 15"/>
          <p:cNvSpPr/>
          <p:nvPr/>
        </p:nvSpPr>
        <p:spPr>
          <a:xfrm>
            <a:off x="7955279" y="228600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eeting.png"/>
          <p:cNvPicPr>
            <a:picLocks noChangeAspect="1"/>
          </p:cNvPicPr>
          <p:nvPr/>
        </p:nvPicPr>
        <p:blipFill>
          <a:blip r:embed="rId4"/>
          <a:stretch>
            <a:fillRect/>
          </a:stretch>
        </p:blipFill>
        <p:spPr>
          <a:xfrm>
            <a:off x="9372599" y="2377440"/>
            <a:ext cx="640080" cy="640080"/>
          </a:xfrm>
          <a:prstGeom prst="rect">
            <a:avLst/>
          </a:prstGeom>
        </p:spPr>
      </p:pic>
      <p:sp>
        <p:nvSpPr>
          <p:cNvPr id="18" name="TextBox 17"/>
          <p:cNvSpPr txBox="1"/>
          <p:nvPr/>
        </p:nvSpPr>
        <p:spPr>
          <a:xfrm>
            <a:off x="7955279" y="2423160"/>
            <a:ext cx="3474720" cy="731520"/>
          </a:xfrm>
          <a:prstGeom prst="rect">
            <a:avLst/>
          </a:prstGeom>
          <a:noFill/>
          <a:ln>
            <a:noFill/>
          </a:ln>
        </p:spPr>
        <p:txBody>
          <a:bodyPr wrap="square">
            <a:spAutoFit/>
          </a:bodyPr>
          <a:lstStyle/>
          <a:p>
            <a:pPr algn="ctr"/>
            <a:r>
              <a:rPr sz="1200" b="1" i="0">
                <a:solidFill>
                  <a:srgbClr val="FFFFFF"/>
                </a:solidFill>
                <a:latin typeface="Helvetica Neue"/>
              </a:rPr>
              <a:t>Productivité automatisée</a:t>
            </a:r>
          </a:p>
        </p:txBody>
      </p:sp>
      <p:sp>
        <p:nvSpPr>
          <p:cNvPr id="19" name="TextBox 18"/>
          <p:cNvSpPr txBox="1"/>
          <p:nvPr/>
        </p:nvSpPr>
        <p:spPr>
          <a:xfrm>
            <a:off x="7955279" y="3840480"/>
            <a:ext cx="3474720" cy="1828800"/>
          </a:xfrm>
          <a:prstGeom prst="rect">
            <a:avLst/>
          </a:prstGeom>
          <a:noFill/>
          <a:ln>
            <a:noFill/>
          </a:ln>
        </p:spPr>
        <p:txBody>
          <a:bodyPr wrap="square">
            <a:spAutoFit/>
          </a:bodyPr>
          <a:lstStyle/>
          <a:p>
            <a:pPr algn="l"/>
            <a:r>
              <a:rPr sz="1000" b="0" i="0">
                <a:solidFill>
                  <a:srgbClr val="000000"/>
                </a:solidFill>
                <a:latin typeface="Helvetica Neue"/>
              </a:rPr>
              <a:t>Pack Office complet, Teams et outils Microsoft 365 pour gagner du temps au quotidien.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latin typeface="Helvetica Neue"/>
              </a:rPr>
              <a:t>5</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latin typeface="Helvetica Neue"/>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6" name="TextBox 5"/>
          <p:cNvSpPr txBox="1"/>
          <p:nvPr/>
        </p:nvSpPr>
        <p:spPr>
          <a:xfrm>
            <a:off x="457200" y="1188720"/>
            <a:ext cx="5943600" cy="457200"/>
          </a:xfrm>
          <a:prstGeom prst="rect">
            <a:avLst/>
          </a:prstGeom>
          <a:noFill/>
          <a:ln>
            <a:noFill/>
          </a:ln>
        </p:spPr>
        <p:txBody>
          <a:bodyPr wrap="square">
            <a:spAutoFit/>
          </a:bodyPr>
          <a:lstStyle/>
          <a:p>
            <a:pPr algn="l"/>
            <a:r>
              <a:rPr sz="1500" b="1" i="0">
                <a:solidFill>
                  <a:srgbClr val="FF7900"/>
                </a:solidFill>
                <a:latin typeface="Helvetica Neue"/>
              </a:rPr>
              <a:t>Cas d'usage client</a:t>
            </a:r>
          </a:p>
        </p:txBody>
      </p:sp>
      <p:sp>
        <p:nvSpPr>
          <p:cNvPr id="7" name="TextBox 6"/>
          <p:cNvSpPr txBox="1"/>
          <p:nvPr/>
        </p:nvSpPr>
        <p:spPr>
          <a:xfrm>
            <a:off x="457200" y="2011680"/>
            <a:ext cx="5943600" cy="3200400"/>
          </a:xfrm>
          <a:prstGeom prst="rect">
            <a:avLst/>
          </a:prstGeom>
          <a:noFill/>
          <a:ln>
            <a:noFill/>
          </a:ln>
        </p:spPr>
        <p:txBody>
          <a:bodyPr wrap="square">
            <a:spAutoFit/>
          </a:bodyPr>
          <a:lstStyle/>
          <a:p>
            <a:pPr algn="l"/>
            <a:r>
              <a:rPr sz="1300" b="1" i="0">
                <a:solidFill>
                  <a:srgbClr val="000000"/>
                </a:solidFill>
                <a:latin typeface="Helvetica Neue"/>
              </a:rPr>
              <a:t>Par exemple, une banque similaire à BIAT a pu augmenter sa productivité de 25% et réduire ses coûts IT de 15% en adoptant une solution similaire. Nous sommes convaincus que nos solutions pourront apporter des bénéfices similaires à la banque BIAT.</a:t>
            </a:r>
          </a:p>
        </p:txBody>
      </p:sp>
      <p:sp>
        <p:nvSpPr>
          <p:cNvPr id="8" name="Rectangle 7"/>
          <p:cNvSpPr/>
          <p:nvPr/>
        </p:nvSpPr>
        <p:spPr>
          <a:xfrm>
            <a:off x="6675120" y="822960"/>
            <a:ext cx="27432" cy="5303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t the office-rafiki.png"/>
          <p:cNvPicPr>
            <a:picLocks noChangeAspect="1"/>
          </p:cNvPicPr>
          <p:nvPr/>
        </p:nvPicPr>
        <p:blipFill>
          <a:blip r:embed="rId2"/>
          <a:stretch>
            <a:fillRect/>
          </a:stretch>
        </p:blipFill>
        <p:spPr>
          <a:xfrm>
            <a:off x="6858000" y="822960"/>
            <a:ext cx="5029200"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latin typeface="Helvetica Neue"/>
              </a:rPr>
              <a:t>6</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latin typeface="Helvetica Neue"/>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latin typeface="Helvetica Neue"/>
              </a:rPr>
              <a:t>Sécurité et conformité</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latin typeface="Helvetica Neue"/>
              </a:rPr>
              <a:t>Vos données protégées au quotidien</a:t>
            </a:r>
          </a:p>
        </p:txBody>
      </p:sp>
      <p:sp>
        <p:nvSpPr>
          <p:cNvPr id="8" name="TextBox 7"/>
          <p:cNvSpPr txBox="1"/>
          <p:nvPr/>
        </p:nvSpPr>
        <p:spPr>
          <a:xfrm>
            <a:off x="457200" y="2377440"/>
            <a:ext cx="5303520" cy="3200400"/>
          </a:xfrm>
          <a:prstGeom prst="rect">
            <a:avLst/>
          </a:prstGeom>
          <a:noFill/>
          <a:ln>
            <a:noFill/>
          </a:ln>
        </p:spPr>
        <p:txBody>
          <a:bodyPr wrap="square">
            <a:spAutoFit/>
          </a:bodyPr>
          <a:lstStyle/>
          <a:p>
            <a:pPr algn="l"/>
            <a:r>
              <a:rPr sz="1200" b="1" i="0">
                <a:solidFill>
                  <a:srgbClr val="000000"/>
                </a:solidFill>
                <a:latin typeface="Helvetica Neue"/>
              </a:rPr>
              <a:t>Orange garantit à la banque BIAT une sécurité de niveau élevé pour ses données et ses communications, conformément aux normes et réglementations en vigueur dans le secteur bancaire.</a:t>
            </a:r>
          </a:p>
        </p:txBody>
      </p:sp>
      <p:sp>
        <p:nvSpPr>
          <p:cNvPr id="9" name="TextBox 8"/>
          <p:cNvSpPr txBox="1"/>
          <p:nvPr/>
        </p:nvSpPr>
        <p:spPr>
          <a:xfrm>
            <a:off x="6400800" y="2377440"/>
            <a:ext cx="5303520" cy="3200400"/>
          </a:xfrm>
          <a:prstGeom prst="rect">
            <a:avLst/>
          </a:prstGeom>
          <a:noFill/>
          <a:ln>
            <a:noFill/>
          </a:ln>
        </p:spPr>
        <p:txBody>
          <a:bodyPr wrap="square">
            <a:spAutoFit/>
          </a:bodyPr>
          <a:lstStyle/>
          <a:p>
            <a:pPr algn="l"/>
            <a:r>
              <a:rPr sz="1200" b="1" i="0">
                <a:solidFill>
                  <a:srgbClr val="000000"/>
                </a:solidFill>
                <a:latin typeface="Helvetica Neue"/>
              </a:rPr>
              <a:t>Nous mettons en œuvre des mesures de sécurité robustes pour protéger les données sensibles de la banque BIAT.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latin typeface="Helvetica Neue"/>
              </a:rPr>
              <a:t>7</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latin typeface="Helvetica Neue"/>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latin typeface="Helvetica Neue"/>
              </a:rPr>
              <a:t>Accompagnement et support</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latin typeface="Helvetica Neue"/>
              </a:rPr>
              <a:t>Un partenaire à vos côtés</a:t>
            </a:r>
          </a:p>
        </p:txBody>
      </p:sp>
      <p:sp>
        <p:nvSpPr>
          <p:cNvPr id="8" name="TextBox 7"/>
          <p:cNvSpPr txBox="1"/>
          <p:nvPr/>
        </p:nvSpPr>
        <p:spPr>
          <a:xfrm>
            <a:off x="457200" y="2468880"/>
            <a:ext cx="11247120" cy="685800"/>
          </a:xfrm>
          <a:prstGeom prst="rect">
            <a:avLst/>
          </a:prstGeom>
          <a:noFill/>
          <a:ln>
            <a:noFill/>
          </a:ln>
        </p:spPr>
        <p:txBody>
          <a:bodyPr wrap="square">
            <a:spAutoFit/>
          </a:bodyPr>
          <a:lstStyle/>
          <a:p>
            <a:pPr algn="l"/>
            <a:r>
              <a:rPr sz="1200" b="1" i="0">
                <a:solidFill>
                  <a:srgbClr val="000000"/>
                </a:solidFill>
                <a:latin typeface="Helvetica Neue"/>
              </a:rPr>
              <a:t>Orange s'engage à fournir un support technique dédié à la banque BIAT pour garantir une mise en œuvre sans encombre de nos solutions</a:t>
            </a:r>
          </a:p>
        </p:txBody>
      </p:sp>
      <p:sp>
        <p:nvSpPr>
          <p:cNvPr id="9" name="TextBox 8"/>
          <p:cNvSpPr txBox="1"/>
          <p:nvPr/>
        </p:nvSpPr>
        <p:spPr>
          <a:xfrm>
            <a:off x="457200" y="3383280"/>
            <a:ext cx="11247120" cy="685800"/>
          </a:xfrm>
          <a:prstGeom prst="rect">
            <a:avLst/>
          </a:prstGeom>
          <a:noFill/>
          <a:ln>
            <a:noFill/>
          </a:ln>
        </p:spPr>
        <p:txBody>
          <a:bodyPr wrap="square">
            <a:spAutoFit/>
          </a:bodyPr>
          <a:lstStyle/>
          <a:p>
            <a:pPr algn="l"/>
            <a:r>
              <a:rPr sz="1200" b="1" i="0">
                <a:solidFill>
                  <a:srgbClr val="000000"/>
                </a:solidFill>
                <a:latin typeface="Helvetica Neue"/>
              </a:rPr>
              <a:t>Nous proposons une formation personnalisée pour les employés de la banque BIAT afin de leur permettre de tirer le meilleur parti de nos outils et solutions</a:t>
            </a:r>
          </a:p>
        </p:txBody>
      </p:sp>
      <p:sp>
        <p:nvSpPr>
          <p:cNvPr id="10" name="TextBox 9"/>
          <p:cNvSpPr txBox="1"/>
          <p:nvPr/>
        </p:nvSpPr>
        <p:spPr>
          <a:xfrm>
            <a:off x="457200" y="4297680"/>
            <a:ext cx="11247120" cy="685800"/>
          </a:xfrm>
          <a:prstGeom prst="rect">
            <a:avLst/>
          </a:prstGeom>
          <a:noFill/>
          <a:ln>
            <a:noFill/>
          </a:ln>
        </p:spPr>
        <p:txBody>
          <a:bodyPr wrap="square">
            <a:spAutoFit/>
          </a:bodyPr>
          <a:lstStyle/>
          <a:p>
            <a:pPr algn="l"/>
            <a:r>
              <a:rPr sz="1200" b="1" i="0">
                <a:solidFill>
                  <a:srgbClr val="000000"/>
                </a:solidFill>
                <a:latin typeface="Helvetica Neue"/>
              </a:rPr>
              <a:t>Orange s'engage à travailler en étroite collaboration avec la banque BIAT pour comprendre ses besoins évolutifs et lui proposer des solutions adaptées à ses objectifs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latin typeface="Helvetica Neue"/>
              </a:rPr>
              <a:t>8</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latin typeface="Helvetica Neue"/>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latin typeface="Helvetica Neue"/>
              </a:rPr>
              <a:t>Tarification et devis</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latin typeface="Helvetica Neue"/>
              </a:rPr>
              <a:t>Détail des licences et coûts</a:t>
            </a:r>
          </a:p>
        </p:txBody>
      </p:sp>
      <p:graphicFrame>
        <p:nvGraphicFramePr>
          <p:cNvPr id="8" name="Table 7"/>
          <p:cNvGraphicFramePr>
            <a:graphicFrameLocks noGrp="1"/>
          </p:cNvGraphicFramePr>
          <p:nvPr/>
        </p:nvGraphicFramePr>
        <p:xfrm>
          <a:off x="457200" y="2286000"/>
          <a:ext cx="11247118" cy="2194560"/>
        </p:xfrm>
        <a:graphic>
          <a:graphicData uri="http://schemas.openxmlformats.org/drawingml/2006/table">
            <a:tbl>
              <a:tblPr firstRow="1" bandRow="1">
                <a:tableStyleId>{5C22544A-7EE6-4342-B048-85BDC9FD1C3A}</a:tableStyleId>
              </a:tblPr>
              <a:tblGrid>
                <a:gridCol w="4498848"/>
                <a:gridCol w="1574596"/>
                <a:gridCol w="2699308"/>
                <a:gridCol w="2474366"/>
              </a:tblGrid>
              <a:tr h="548640">
                <a:tc>
                  <a:txBody>
                    <a:bodyPr/>
                    <a:lstStyle/>
                    <a:p>
                      <a:pPr algn="ctr"/>
                      <a:r>
                        <a:rPr b="1" sz="1100">
                          <a:solidFill>
                            <a:srgbClr val="FFFFFF"/>
                          </a:solidFill>
                          <a:latin typeface="Helvetica Neue"/>
                        </a:rPr>
                        <a:t>Licence / Offre</a:t>
                      </a:r>
                    </a:p>
                  </a:txBody>
                  <a:tcPr>
                    <a:solidFill>
                      <a:srgbClr val="FF7900"/>
                    </a:solidFill>
                  </a:tcPr>
                </a:tc>
                <a:tc>
                  <a:txBody>
                    <a:bodyPr/>
                    <a:lstStyle/>
                    <a:p>
                      <a:pPr algn="ctr"/>
                      <a:r>
                        <a:rPr b="1" sz="1100">
                          <a:solidFill>
                            <a:srgbClr val="FFFFFF"/>
                          </a:solidFill>
                          <a:latin typeface="Helvetica Neue"/>
                        </a:rPr>
                        <a:t>Quantité</a:t>
                      </a:r>
                    </a:p>
                  </a:txBody>
                  <a:tcPr>
                    <a:solidFill>
                      <a:srgbClr val="FF7900"/>
                    </a:solidFill>
                  </a:tcPr>
                </a:tc>
                <a:tc>
                  <a:txBody>
                    <a:bodyPr/>
                    <a:lstStyle/>
                    <a:p>
                      <a:pPr algn="ctr"/>
                      <a:r>
                        <a:rPr b="1" sz="1100">
                          <a:solidFill>
                            <a:srgbClr val="FFFFFF"/>
                          </a:solidFill>
                          <a:latin typeface="Helvetica Neue"/>
                        </a:rPr>
                        <a:t>Prix unitaire</a:t>
                      </a:r>
                    </a:p>
                  </a:txBody>
                  <a:tcPr>
                    <a:solidFill>
                      <a:srgbClr val="FF7900"/>
                    </a:solidFill>
                  </a:tcPr>
                </a:tc>
                <a:tc>
                  <a:txBody>
                    <a:bodyPr/>
                    <a:lstStyle/>
                    <a:p>
                      <a:pPr algn="ctr"/>
                      <a:r>
                        <a:rPr b="1" sz="1100">
                          <a:solidFill>
                            <a:srgbClr val="FFFFFF"/>
                          </a:solidFill>
                          <a:latin typeface="Helvetica Neue"/>
                        </a:rPr>
                        <a:t>Prix total (TND/an)</a:t>
                      </a:r>
                    </a:p>
                  </a:txBody>
                  <a:tcPr>
                    <a:solidFill>
                      <a:srgbClr val="FF7900"/>
                    </a:solidFill>
                  </a:tcPr>
                </a:tc>
              </a:tr>
              <a:tr h="548640">
                <a:tc>
                  <a:txBody>
                    <a:bodyPr/>
                    <a:lstStyle/>
                    <a:p>
                      <a:pPr algn="l"/>
                      <a:r>
                        <a:rPr sz="1100" b="1">
                          <a:solidFill>
                            <a:srgbClr val="000000"/>
                          </a:solidFill>
                          <a:latin typeface="Helvetica Neue"/>
                        </a:rPr>
                        <a:t>Fibre Orange Business 200M</a:t>
                      </a:r>
                    </a:p>
                  </a:txBody>
                  <a:tcPr>
                    <a:solidFill>
                      <a:srgbClr val="FFFFFF"/>
                    </a:solidFill>
                  </a:tcPr>
                </a:tc>
                <a:tc>
                  <a:txBody>
                    <a:bodyPr/>
                    <a:lstStyle/>
                    <a:p>
                      <a:pPr algn="ctr"/>
                      <a:r>
                        <a:rPr sz="1100" b="0">
                          <a:solidFill>
                            <a:srgbClr val="000000"/>
                          </a:solidFill>
                          <a:latin typeface="Helvetica Neue"/>
                        </a:rPr>
                        <a:t>1</a:t>
                      </a:r>
                    </a:p>
                  </a:txBody>
                  <a:tcPr>
                    <a:solidFill>
                      <a:srgbClr val="FFFFFF"/>
                    </a:solidFill>
                  </a:tcPr>
                </a:tc>
                <a:tc>
                  <a:txBody>
                    <a:bodyPr/>
                    <a:lstStyle/>
                    <a:p>
                      <a:pPr algn="ctr"/>
                      <a:r>
                        <a:rPr sz="1100" b="0">
                          <a:solidFill>
                            <a:srgbClr val="000000"/>
                          </a:solidFill>
                          <a:latin typeface="Helvetica Neue"/>
                        </a:rPr>
                        <a:t>2000.00 TND/mois</a:t>
                      </a:r>
                    </a:p>
                  </a:txBody>
                  <a:tcPr>
                    <a:solidFill>
                      <a:srgbClr val="FFFFFF"/>
                    </a:solidFill>
                  </a:tcPr>
                </a:tc>
                <a:tc>
                  <a:txBody>
                    <a:bodyPr/>
                    <a:lstStyle/>
                    <a:p>
                      <a:pPr algn="ctr"/>
                      <a:r>
                        <a:rPr sz="1100" b="0">
                          <a:solidFill>
                            <a:srgbClr val="000000"/>
                          </a:solidFill>
                          <a:latin typeface="Helvetica Neue"/>
                        </a:rPr>
                        <a:t>24,000.00</a:t>
                      </a:r>
                    </a:p>
                  </a:txBody>
                  <a:tcPr>
                    <a:solidFill>
                      <a:srgbClr val="FFFFFF"/>
                    </a:solidFill>
                  </a:tcPr>
                </a:tc>
              </a:tr>
              <a:tr h="548640">
                <a:tc>
                  <a:txBody>
                    <a:bodyPr/>
                    <a:lstStyle/>
                    <a:p>
                      <a:pPr algn="l"/>
                      <a:r>
                        <a:rPr sz="1100" b="1">
                          <a:solidFill>
                            <a:srgbClr val="000000"/>
                          </a:solidFill>
                          <a:latin typeface="Helvetica Neue"/>
                        </a:rPr>
                        <a:t>Microsoft 365 Business Basic</a:t>
                      </a:r>
                    </a:p>
                  </a:txBody>
                  <a:tcPr>
                    <a:solidFill>
                      <a:srgbClr val="FFCCAA"/>
                    </a:solidFill>
                  </a:tcPr>
                </a:tc>
                <a:tc>
                  <a:txBody>
                    <a:bodyPr/>
                    <a:lstStyle/>
                    <a:p>
                      <a:pPr algn="ctr"/>
                      <a:r>
                        <a:rPr sz="1100" b="0">
                          <a:solidFill>
                            <a:srgbClr val="000000"/>
                          </a:solidFill>
                          <a:latin typeface="Helvetica Neue"/>
                        </a:rPr>
                        <a:t>15</a:t>
                      </a:r>
                    </a:p>
                  </a:txBody>
                  <a:tcPr>
                    <a:solidFill>
                      <a:srgbClr val="FFCCAA"/>
                    </a:solidFill>
                  </a:tcPr>
                </a:tc>
                <a:tc>
                  <a:txBody>
                    <a:bodyPr/>
                    <a:lstStyle/>
                    <a:p>
                      <a:pPr algn="ctr"/>
                      <a:r>
                        <a:rPr sz="1100" b="0">
                          <a:solidFill>
                            <a:srgbClr val="000000"/>
                          </a:solidFill>
                          <a:latin typeface="Helvetica Neue"/>
                        </a:rPr>
                        <a:t>95.21 TND/an/licence</a:t>
                      </a:r>
                    </a:p>
                  </a:txBody>
                  <a:tcPr>
                    <a:solidFill>
                      <a:srgbClr val="FFCCAA"/>
                    </a:solidFill>
                  </a:tcPr>
                </a:tc>
                <a:tc>
                  <a:txBody>
                    <a:bodyPr/>
                    <a:lstStyle/>
                    <a:p>
                      <a:pPr algn="ctr"/>
                      <a:r>
                        <a:rPr sz="1100" b="0">
                          <a:solidFill>
                            <a:srgbClr val="000000"/>
                          </a:solidFill>
                          <a:latin typeface="Helvetica Neue"/>
                        </a:rPr>
                        <a:t>1,428.15</a:t>
                      </a:r>
                    </a:p>
                  </a:txBody>
                  <a:tcPr>
                    <a:solidFill>
                      <a:srgbClr val="FFCCAA"/>
                    </a:solidFill>
                  </a:tcPr>
                </a:tc>
              </a:tr>
              <a:tr h="548640">
                <a:tc>
                  <a:txBody>
                    <a:bodyPr/>
                    <a:lstStyle/>
                    <a:p>
                      <a:pPr algn="l"/>
                      <a:r>
                        <a:rPr sz="1100" b="1">
                          <a:solidFill>
                            <a:srgbClr val="FFFFFF"/>
                          </a:solidFill>
                          <a:latin typeface="Helvetica Neue"/>
                        </a:rPr>
                        <a:t>TOTAL ANNUEL</a:t>
                      </a:r>
                    </a:p>
                  </a:txBody>
                  <a:tcPr>
                    <a:solidFill>
                      <a:srgbClr val="FF7900"/>
                    </a:solidFill>
                  </a:tcPr>
                </a:tc>
                <a:tc>
                  <a:txBody>
                    <a:bodyPr/>
                    <a:lstStyle/>
                    <a:p>
                      <a:pPr algn="ctr"/>
                      <a:r>
                        <a:rPr sz="1100" b="1">
                          <a:solidFill>
                            <a:srgbClr val="FFFFFF"/>
                          </a:solidFill>
                          <a:latin typeface="Helvetica Neue"/>
                        </a:rPr>
                        <a:t/>
                      </a:r>
                    </a:p>
                  </a:txBody>
                  <a:tcPr>
                    <a:solidFill>
                      <a:srgbClr val="FF7900"/>
                    </a:solidFill>
                  </a:tcPr>
                </a:tc>
                <a:tc>
                  <a:txBody>
                    <a:bodyPr/>
                    <a:lstStyle/>
                    <a:p>
                      <a:pPr algn="ctr"/>
                      <a:r>
                        <a:rPr sz="1100" b="1">
                          <a:solidFill>
                            <a:srgbClr val="FFFFFF"/>
                          </a:solidFill>
                          <a:latin typeface="Helvetica Neue"/>
                        </a:rPr>
                        <a:t/>
                      </a:r>
                    </a:p>
                  </a:txBody>
                  <a:tcPr>
                    <a:solidFill>
                      <a:srgbClr val="FF7900"/>
                    </a:solidFill>
                  </a:tcPr>
                </a:tc>
                <a:tc>
                  <a:txBody>
                    <a:bodyPr/>
                    <a:lstStyle/>
                    <a:p>
                      <a:pPr algn="ctr"/>
                      <a:r>
                        <a:rPr sz="1100" b="1">
                          <a:solidFill>
                            <a:srgbClr val="FFFFFF"/>
                          </a:solidFill>
                          <a:latin typeface="Helvetica Neue"/>
                        </a:rPr>
                        <a:t>25,428.15</a:t>
                      </a:r>
                    </a:p>
                  </a:txBody>
                  <a:tcPr>
                    <a:solidFill>
                      <a:srgbClr val="FF790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latin typeface="Helvetica Neue"/>
              </a:rPr>
              <a:t>Orange Restricted</a:t>
            </a:r>
          </a:p>
        </p:txBody>
      </p:sp>
      <p:sp>
        <p:nvSpPr>
          <p:cNvPr id="3" name="TextBox 2"/>
          <p:cNvSpPr txBox="1"/>
          <p:nvPr/>
        </p:nvSpPr>
        <p:spPr>
          <a:xfrm>
            <a:off x="274320" y="6537960"/>
            <a:ext cx="731520" cy="274320"/>
          </a:xfrm>
          <a:prstGeom prst="rect">
            <a:avLst/>
          </a:prstGeom>
          <a:noFill/>
          <a:ln>
            <a:noFill/>
          </a:ln>
        </p:spPr>
        <p:txBody>
          <a:bodyPr wrap="square">
            <a:spAutoFit/>
          </a:bodyPr>
          <a:lstStyle/>
          <a:p>
            <a:pPr algn="l"/>
            <a:r>
              <a:rPr sz="800" b="0" i="0">
                <a:solidFill>
                  <a:srgbClr val="888888"/>
                </a:solidFill>
                <a:latin typeface="Helvetica Neue"/>
              </a:rPr>
              <a:t>9</a:t>
            </a:r>
          </a:p>
        </p:txBody>
      </p:sp>
      <p:sp>
        <p:nvSpPr>
          <p:cNvPr id="4" name="TextBox 3"/>
          <p:cNvSpPr txBox="1"/>
          <p:nvPr/>
        </p:nvSpPr>
        <p:spPr>
          <a:xfrm>
            <a:off x="457200" y="1097280"/>
            <a:ext cx="6858000" cy="1645920"/>
          </a:xfrm>
          <a:prstGeom prst="rect">
            <a:avLst/>
          </a:prstGeom>
          <a:noFill/>
          <a:ln>
            <a:noFill/>
          </a:ln>
        </p:spPr>
        <p:txBody>
          <a:bodyPr wrap="square">
            <a:spAutoFit/>
          </a:bodyPr>
          <a:lstStyle/>
          <a:p>
            <a:pPr algn="l"/>
            <a:r>
              <a:rPr sz="5400" b="1" i="0">
                <a:solidFill>
                  <a:srgbClr val="FF7900"/>
                </a:solidFill>
                <a:latin typeface="Helvetica Neue"/>
              </a:rPr>
              <a:t>Merci !</a:t>
            </a:r>
          </a:p>
        </p:txBody>
      </p:sp>
      <p:sp>
        <p:nvSpPr>
          <p:cNvPr id="5" name="TextBox 4"/>
          <p:cNvSpPr txBox="1"/>
          <p:nvPr/>
        </p:nvSpPr>
        <p:spPr>
          <a:xfrm>
            <a:off x="457200" y="2743200"/>
            <a:ext cx="6858000" cy="731520"/>
          </a:xfrm>
          <a:prstGeom prst="rect">
            <a:avLst/>
          </a:prstGeom>
          <a:noFill/>
          <a:ln>
            <a:noFill/>
          </a:ln>
        </p:spPr>
        <p:txBody>
          <a:bodyPr wrap="square">
            <a:spAutoFit/>
          </a:bodyPr>
          <a:lstStyle/>
          <a:p>
            <a:pPr algn="l"/>
            <a:r>
              <a:rPr sz="2200" b="1" i="0">
                <a:solidFill>
                  <a:srgbClr val="000000"/>
                </a:solidFill>
                <a:latin typeface="Helvetica Neue"/>
              </a:rPr>
              <a:t>Contact et prochaines étapes</a:t>
            </a:r>
          </a:p>
        </p:txBody>
      </p:sp>
      <p:sp>
        <p:nvSpPr>
          <p:cNvPr id="6" name="TextBox 5"/>
          <p:cNvSpPr txBox="1"/>
          <p:nvPr/>
        </p:nvSpPr>
        <p:spPr>
          <a:xfrm>
            <a:off x="457200" y="3657600"/>
            <a:ext cx="6858000" cy="1371600"/>
          </a:xfrm>
          <a:prstGeom prst="rect">
            <a:avLst/>
          </a:prstGeom>
          <a:noFill/>
          <a:ln>
            <a:noFill/>
          </a:ln>
        </p:spPr>
        <p:txBody>
          <a:bodyPr wrap="square">
            <a:spAutoFit/>
          </a:bodyPr>
          <a:lstStyle/>
          <a:p>
            <a:pPr algn="l"/>
            <a:r>
              <a:rPr sz="1200" b="0" i="0">
                <a:solidFill>
                  <a:srgbClr val="000000"/>
                </a:solidFill>
                <a:latin typeface="Helvetica Neue"/>
              </a:rPr>
              <a:t>Nous sommes convaincus que notre offre de fibre 200 Mbps et de Microsoft 365 Business Basic répondra aux besoins spécifiques de la banque BIAT et nous sommes impatients de collaborer avec vous pour atteindre vos objectifs.</a:t>
            </a:r>
          </a:p>
        </p:txBody>
      </p:sp>
      <p:pic>
        <p:nvPicPr>
          <p:cNvPr id="7" name="Picture 6" descr="Company-rafiki.png"/>
          <p:cNvPicPr>
            <a:picLocks noChangeAspect="1"/>
          </p:cNvPicPr>
          <p:nvPr/>
        </p:nvPicPr>
        <p:blipFill>
          <a:blip r:embed="rId2"/>
          <a:stretch>
            <a:fillRect/>
          </a:stretch>
        </p:blipFill>
        <p:spPr>
          <a:xfrm>
            <a:off x="7589520" y="731520"/>
            <a:ext cx="4297680" cy="5486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